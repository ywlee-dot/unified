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2.png"/><Relationship Id="rId4" Type="http://schemas.openxmlformats.org/officeDocument/2006/relationships/image" Target="../media/image-1-2.png"/><Relationship Id="rId5" Type="http://schemas.openxmlformats.org/officeDocument/2006/relationships/image" Target="../media/image-1-2.png"/><Relationship Id="rId6" Type="http://schemas.openxmlformats.org/officeDocument/2006/relationships/image" Target="../media/image-1-2.png"/><Relationship Id="rId7" Type="http://schemas.openxmlformats.org/officeDocument/2006/relationships/image" Target="../media/image-1-2.png"/><Relationship Id="rId8" Type="http://schemas.openxmlformats.org/officeDocument/2006/relationships/image" Target="../media/image-1-8.png"/><Relationship Id="rId9" Type="http://schemas.openxmlformats.org/officeDocument/2006/relationships/image" Target="../media/image-1-8.png"/><Relationship Id="rId10" Type="http://schemas.openxmlformats.org/officeDocument/2006/relationships/image" Target="../media/image-1-8.png"/><Relationship Id="rId11" Type="http://schemas.openxmlformats.org/officeDocument/2006/relationships/image" Target="../media/image-1-8.png"/><Relationship Id="rId12" Type="http://schemas.openxmlformats.org/officeDocument/2006/relationships/image" Target="../media/image-1-8.png"/><Relationship Id="rId13" Type="http://schemas.openxmlformats.org/officeDocument/2006/relationships/image" Target="../media/image-1-8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0126"/>
          </a:xfrm>
          <a:prstGeom prst="rect">
            <a:avLst/>
          </a:prstGeom>
          <a:solidFill>
            <a:srgbClr val="0A0A1E">
              <a:alpha val="8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20601"/>
            <a:ext cx="9144000" cy="0"/>
          </a:xfrm>
          <a:prstGeom prst="line">
            <a:avLst/>
          </a:prstGeom>
          <a:noFill/>
          <a:ln w="1905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3901" y="76200"/>
            <a:ext cx="906790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System 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3901" y="339626"/>
            <a:ext cx="906790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Handbook RAG Pipeline &amp; Data Storage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77701" y="482501"/>
            <a:ext cx="1103114" cy="295126"/>
          </a:xfrm>
          <a:prstGeom prst="roundRect">
            <a:avLst>
              <a:gd name="adj" fmla="val 25819"/>
            </a:avLst>
          </a:prstGeom>
          <a:solidFill>
            <a:srgbClr val="1E88E5">
              <a:alpha val="20000"/>
            </a:srgbClr>
          </a:solidFill>
          <a:ln w="9525">
            <a:solidFill>
              <a:srgbClr val="1E88E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41054" y="542776"/>
            <a:ext cx="9764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Document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241054" y="650677"/>
            <a:ext cx="97640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00" b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HWPX (2025)</a:t>
            </a:r>
            <a:endParaRPr lang="en-US" sz="500" dirty="0"/>
          </a:p>
        </p:txBody>
      </p:sp>
      <p:pic>
        <p:nvPicPr>
          <p:cNvPr id="9" name="Image 0" descr="/home/iamooo/repos/unified/workspace/arrow-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815" y="579239"/>
            <a:ext cx="177701" cy="10150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58516" y="482501"/>
            <a:ext cx="1103263" cy="295126"/>
          </a:xfrm>
          <a:prstGeom prst="roundRect">
            <a:avLst>
              <a:gd name="adj" fmla="val 25819"/>
            </a:avLst>
          </a:prstGeom>
          <a:solidFill>
            <a:srgbClr val="1E88E5">
              <a:alpha val="20000"/>
            </a:srgbClr>
          </a:solidFill>
          <a:ln w="9525">
            <a:solidFill>
              <a:srgbClr val="1E88E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521867" y="542776"/>
            <a:ext cx="9765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Parse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1521867" y="650677"/>
            <a:ext cx="97656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00" b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ZIP/XML Extract</a:t>
            </a:r>
            <a:endParaRPr lang="en-US" sz="500" dirty="0"/>
          </a:p>
        </p:txBody>
      </p:sp>
      <p:pic>
        <p:nvPicPr>
          <p:cNvPr id="13" name="Image 1" descr="/home/iamooo/repos/unified/workspace/arrow-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1779" y="579239"/>
            <a:ext cx="177701" cy="10150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39479" y="482501"/>
            <a:ext cx="1103114" cy="295126"/>
          </a:xfrm>
          <a:prstGeom prst="roundRect">
            <a:avLst>
              <a:gd name="adj" fmla="val 25819"/>
            </a:avLst>
          </a:prstGeom>
          <a:solidFill>
            <a:srgbClr val="1E88E5">
              <a:alpha val="20000"/>
            </a:srgbClr>
          </a:solidFill>
          <a:ln w="9525">
            <a:solidFill>
              <a:srgbClr val="1E88E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2802832" y="542776"/>
            <a:ext cx="9764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Chunk</a:t>
            </a:r>
            <a:endParaRPr lang="en-US" sz="650" dirty="0"/>
          </a:p>
        </p:txBody>
      </p:sp>
      <p:sp>
        <p:nvSpPr>
          <p:cNvPr id="16" name="Text 12"/>
          <p:cNvSpPr/>
          <p:nvPr/>
        </p:nvSpPr>
        <p:spPr>
          <a:xfrm>
            <a:off x="2802832" y="650677"/>
            <a:ext cx="97640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00" b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Items x 6 Cat</a:t>
            </a:r>
            <a:endParaRPr lang="en-US" sz="500" dirty="0"/>
          </a:p>
        </p:txBody>
      </p:sp>
      <p:pic>
        <p:nvPicPr>
          <p:cNvPr id="17" name="Image 2" descr="/home/iamooo/repos/unified/workspace/arrow-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2593" y="579239"/>
            <a:ext cx="177701" cy="10150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020294" y="482501"/>
            <a:ext cx="1103263" cy="295126"/>
          </a:xfrm>
          <a:prstGeom prst="roundRect">
            <a:avLst>
              <a:gd name="adj" fmla="val 25819"/>
            </a:avLst>
          </a:prstGeom>
          <a:solidFill>
            <a:srgbClr val="1E88E5">
              <a:alpha val="20000"/>
            </a:srgbClr>
          </a:solidFill>
          <a:ln w="9525">
            <a:solidFill>
              <a:srgbClr val="1E88E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4083646" y="542776"/>
            <a:ext cx="9765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Embed</a:t>
            </a:r>
            <a:endParaRPr lang="en-US" sz="650" dirty="0"/>
          </a:p>
        </p:txBody>
      </p:sp>
      <p:sp>
        <p:nvSpPr>
          <p:cNvPr id="20" name="Text 15"/>
          <p:cNvSpPr/>
          <p:nvPr/>
        </p:nvSpPr>
        <p:spPr>
          <a:xfrm>
            <a:off x="4083646" y="650677"/>
            <a:ext cx="97656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00" b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3072d</a:t>
            </a:r>
            <a:endParaRPr lang="en-US" sz="500" dirty="0"/>
          </a:p>
        </p:txBody>
      </p:sp>
      <p:pic>
        <p:nvPicPr>
          <p:cNvPr id="21" name="Image 3" descr="/home/iamooo/repos/unified/workspace/arrow-r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3557" y="579239"/>
            <a:ext cx="177701" cy="10150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01258" y="482501"/>
            <a:ext cx="1103114" cy="295126"/>
          </a:xfrm>
          <a:prstGeom prst="roundRect">
            <a:avLst>
              <a:gd name="adj" fmla="val 25819"/>
            </a:avLst>
          </a:prstGeom>
          <a:solidFill>
            <a:srgbClr val="1E88E5">
              <a:alpha val="20000"/>
            </a:srgbClr>
          </a:solidFill>
          <a:ln w="9525">
            <a:solidFill>
              <a:srgbClr val="1E88E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5364611" y="542776"/>
            <a:ext cx="9764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Store</a:t>
            </a:r>
            <a:endParaRPr lang="en-US" sz="650" dirty="0"/>
          </a:p>
        </p:txBody>
      </p:sp>
      <p:sp>
        <p:nvSpPr>
          <p:cNvPr id="24" name="Text 18"/>
          <p:cNvSpPr/>
          <p:nvPr/>
        </p:nvSpPr>
        <p:spPr>
          <a:xfrm>
            <a:off x="5364611" y="650677"/>
            <a:ext cx="97640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00" b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Pinecone</a:t>
            </a:r>
            <a:endParaRPr lang="en-US" sz="500" dirty="0"/>
          </a:p>
        </p:txBody>
      </p:sp>
      <p:pic>
        <p:nvPicPr>
          <p:cNvPr id="25" name="Image 4" descr="/home/iamooo/repos/unified/workspace/arrow-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4372" y="579239"/>
            <a:ext cx="177701" cy="10150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582073" y="482501"/>
            <a:ext cx="1103263" cy="295126"/>
          </a:xfrm>
          <a:prstGeom prst="roundRect">
            <a:avLst>
              <a:gd name="adj" fmla="val 25819"/>
            </a:avLst>
          </a:prstGeom>
          <a:solidFill>
            <a:srgbClr val="1E88E5">
              <a:alpha val="20000"/>
            </a:srgbClr>
          </a:solidFill>
          <a:ln w="9525">
            <a:solidFill>
              <a:srgbClr val="1E88E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0"/>
          <p:cNvSpPr/>
          <p:nvPr/>
        </p:nvSpPr>
        <p:spPr>
          <a:xfrm>
            <a:off x="6645424" y="542776"/>
            <a:ext cx="9765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Retrieve</a:t>
            </a:r>
            <a:endParaRPr lang="en-US" sz="650" dirty="0"/>
          </a:p>
        </p:txBody>
      </p:sp>
      <p:sp>
        <p:nvSpPr>
          <p:cNvPr id="28" name="Text 21"/>
          <p:cNvSpPr/>
          <p:nvPr/>
        </p:nvSpPr>
        <p:spPr>
          <a:xfrm>
            <a:off x="6645424" y="650677"/>
            <a:ext cx="97656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00" b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 Cosine</a:t>
            </a:r>
            <a:endParaRPr lang="en-US" sz="500" dirty="0"/>
          </a:p>
        </p:txBody>
      </p:sp>
      <p:pic>
        <p:nvPicPr>
          <p:cNvPr id="29" name="Image 5" descr="/home/iamooo/repos/unified/workspace/arrow-righ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5336" y="579239"/>
            <a:ext cx="177701" cy="101501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863036" y="482501"/>
            <a:ext cx="1103263" cy="295126"/>
          </a:xfrm>
          <a:prstGeom prst="roundRect">
            <a:avLst>
              <a:gd name="adj" fmla="val 25819"/>
            </a:avLst>
          </a:prstGeom>
          <a:solidFill>
            <a:srgbClr val="1E88E5">
              <a:alpha val="20000"/>
            </a:srgbClr>
          </a:solidFill>
          <a:ln w="9525">
            <a:solidFill>
              <a:srgbClr val="1E88E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3"/>
          <p:cNvSpPr/>
          <p:nvPr/>
        </p:nvSpPr>
        <p:spPr>
          <a:xfrm>
            <a:off x="7926388" y="542776"/>
            <a:ext cx="9765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Generate</a:t>
            </a:r>
            <a:endParaRPr lang="en-US" sz="650" dirty="0"/>
          </a:p>
        </p:txBody>
      </p:sp>
      <p:sp>
        <p:nvSpPr>
          <p:cNvPr id="32" name="Text 24"/>
          <p:cNvSpPr/>
          <p:nvPr/>
        </p:nvSpPr>
        <p:spPr>
          <a:xfrm>
            <a:off x="7926388" y="650677"/>
            <a:ext cx="97656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00" b="1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</a:t>
            </a:r>
            <a:endParaRPr lang="en-US" sz="500" dirty="0"/>
          </a:p>
        </p:txBody>
      </p:sp>
      <p:sp>
        <p:nvSpPr>
          <p:cNvPr id="33" name="Text 25"/>
          <p:cNvSpPr/>
          <p:nvPr/>
        </p:nvSpPr>
        <p:spPr>
          <a:xfrm>
            <a:off x="177701" y="1041350"/>
            <a:ext cx="2539901" cy="155377"/>
          </a:xfrm>
          <a:prstGeom prst="rect">
            <a:avLst/>
          </a:prstGeom>
          <a:solidFill>
            <a:srgbClr val="1E88E5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26"/>
          <p:cNvSpPr/>
          <p:nvPr/>
        </p:nvSpPr>
        <p:spPr>
          <a:xfrm>
            <a:off x="191988" y="1041350"/>
            <a:ext cx="0" cy="155377"/>
          </a:xfrm>
          <a:prstGeom prst="line">
            <a:avLst/>
          </a:prstGeom>
          <a:noFill/>
          <a:ln w="28575">
            <a:solidFill>
              <a:srgbClr val="1E88E5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282476" y="1066651"/>
            <a:ext cx="240610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Ingestion Pipeline</a:t>
            </a:r>
            <a:endParaRPr lang="en-US" sz="750" dirty="0"/>
          </a:p>
        </p:txBody>
      </p:sp>
      <p:sp>
        <p:nvSpPr>
          <p:cNvPr id="36" name="Text 28"/>
          <p:cNvSpPr/>
          <p:nvPr/>
        </p:nvSpPr>
        <p:spPr>
          <a:xfrm>
            <a:off x="177701" y="1260128"/>
            <a:ext cx="2539901" cy="935831"/>
          </a:xfrm>
          <a:prstGeom prst="roundRect">
            <a:avLst>
              <a:gd name="adj" fmla="val 8142"/>
            </a:avLst>
          </a:prstGeom>
          <a:solidFill>
            <a:srgbClr val="141432">
              <a:alpha val="80000"/>
            </a:srgbClr>
          </a:solidFill>
          <a:ln w="9525">
            <a:solidFill>
              <a:srgbClr val="1565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29"/>
          <p:cNvSpPr/>
          <p:nvPr/>
        </p:nvSpPr>
        <p:spPr>
          <a:xfrm>
            <a:off x="263426" y="1333054"/>
            <a:ext cx="2368451" cy="161627"/>
          </a:xfrm>
          <a:prstGeom prst="roundRect">
            <a:avLst>
              <a:gd name="adj" fmla="val 23573"/>
            </a:avLst>
          </a:prstGeom>
          <a:solidFill>
            <a:srgbClr val="1565C0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0"/>
          <p:cNvSpPr/>
          <p:nvPr/>
        </p:nvSpPr>
        <p:spPr>
          <a:xfrm>
            <a:off x="326827" y="1371005"/>
            <a:ext cx="228648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550" b="1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HWPX Parsing (parse_hwpx.py)</a:t>
            </a:r>
            <a:endParaRPr lang="en-US" sz="550" dirty="0"/>
          </a:p>
        </p:txBody>
      </p:sp>
      <p:sp>
        <p:nvSpPr>
          <p:cNvPr id="39" name="Text 31"/>
          <p:cNvSpPr/>
          <p:nvPr/>
        </p:nvSpPr>
        <p:spPr>
          <a:xfrm>
            <a:off x="263426" y="1532781"/>
            <a:ext cx="241582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550" dirty="0">
                <a:solidFill>
                  <a:srgbClr val="4DD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5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2025 Public Data Evaluation Handbook (.hwpx)</a:t>
            </a:r>
            <a:endParaRPr lang="en-US" sz="550" dirty="0"/>
          </a:p>
        </p:txBody>
      </p:sp>
      <p:sp>
        <p:nvSpPr>
          <p:cNvPr id="40" name="Text 32"/>
          <p:cNvSpPr/>
          <p:nvPr/>
        </p:nvSpPr>
        <p:spPr>
          <a:xfrm>
            <a:off x="263426" y="1631156"/>
            <a:ext cx="241582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550" dirty="0">
                <a:solidFill>
                  <a:srgbClr val="4DD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5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ZIP extraction, XML section parsing</a:t>
            </a:r>
            <a:endParaRPr lang="en-US" sz="550" dirty="0"/>
          </a:p>
        </p:txBody>
      </p:sp>
      <p:sp>
        <p:nvSpPr>
          <p:cNvPr id="41" name="Text 33"/>
          <p:cNvSpPr/>
          <p:nvPr/>
        </p:nvSpPr>
        <p:spPr>
          <a:xfrm>
            <a:off x="263426" y="1729532"/>
            <a:ext cx="241582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550" dirty="0">
                <a:solidFill>
                  <a:srgbClr val="4DD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5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Split by indicator markers</a:t>
            </a:r>
            <a:endParaRPr lang="en-US" sz="550" dirty="0"/>
          </a:p>
        </p:txBody>
      </p:sp>
      <p:sp>
        <p:nvSpPr>
          <p:cNvPr id="42" name="Text 34"/>
          <p:cNvSpPr/>
          <p:nvPr/>
        </p:nvSpPr>
        <p:spPr>
          <a:xfrm>
            <a:off x="263426" y="1827907"/>
            <a:ext cx="241582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550" dirty="0">
                <a:solidFill>
                  <a:srgbClr val="4DD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5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Split by circled numbers</a:t>
            </a:r>
            <a:endParaRPr lang="en-US" sz="550" dirty="0"/>
          </a:p>
        </p:txBody>
      </p:sp>
      <p:sp>
        <p:nvSpPr>
          <p:cNvPr id="43" name="Text 35"/>
          <p:cNvSpPr/>
          <p:nvPr/>
        </p:nvSpPr>
        <p:spPr>
          <a:xfrm>
            <a:off x="263426" y="1926282"/>
            <a:ext cx="241582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550" dirty="0">
                <a:solidFill>
                  <a:srgbClr val="4DD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5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Cap at 8,000 chars/section</a:t>
            </a:r>
            <a:endParaRPr lang="en-US" sz="550" dirty="0"/>
          </a:p>
        </p:txBody>
      </p:sp>
      <p:sp>
        <p:nvSpPr>
          <p:cNvPr id="44" name="Text 36"/>
          <p:cNvSpPr/>
          <p:nvPr/>
        </p:nvSpPr>
        <p:spPr>
          <a:xfrm>
            <a:off x="263426" y="2024658"/>
            <a:ext cx="241582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550" dirty="0">
                <a:solidFill>
                  <a:srgbClr val="4DD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5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evaluation_items.json (v2.0.0)</a:t>
            </a:r>
            <a:endParaRPr lang="en-US" sz="550" dirty="0"/>
          </a:p>
        </p:txBody>
      </p:sp>
      <p:sp>
        <p:nvSpPr>
          <p:cNvPr id="45" name="Text 37"/>
          <p:cNvSpPr/>
          <p:nvPr/>
        </p:nvSpPr>
        <p:spPr>
          <a:xfrm>
            <a:off x="177701" y="2259360"/>
            <a:ext cx="2539901" cy="1007864"/>
          </a:xfrm>
          <a:prstGeom prst="roundRect">
            <a:avLst>
              <a:gd name="adj" fmla="val 7561"/>
            </a:avLst>
          </a:prstGeom>
          <a:solidFill>
            <a:srgbClr val="141432">
              <a:alpha val="80000"/>
            </a:srgbClr>
          </a:solidFill>
          <a:ln w="9525">
            <a:solidFill>
              <a:srgbClr val="1565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38"/>
          <p:cNvSpPr/>
          <p:nvPr/>
        </p:nvSpPr>
        <p:spPr>
          <a:xfrm>
            <a:off x="263426" y="2332286"/>
            <a:ext cx="2368451" cy="161627"/>
          </a:xfrm>
          <a:prstGeom prst="roundRect">
            <a:avLst>
              <a:gd name="adj" fmla="val 23573"/>
            </a:avLst>
          </a:prstGeom>
          <a:solidFill>
            <a:srgbClr val="1565C0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39"/>
          <p:cNvSpPr/>
          <p:nvPr/>
        </p:nvSpPr>
        <p:spPr>
          <a:xfrm>
            <a:off x="326827" y="2370237"/>
            <a:ext cx="228648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550" b="1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Data (evaluation_items.json)</a:t>
            </a:r>
            <a:endParaRPr lang="en-US" sz="550" dirty="0"/>
          </a:p>
        </p:txBody>
      </p:sp>
      <p:sp>
        <p:nvSpPr>
          <p:cNvPr id="48" name="Text 40"/>
          <p:cNvSpPr/>
          <p:nvPr/>
        </p:nvSpPr>
        <p:spPr>
          <a:xfrm>
            <a:off x="263426" y="2532013"/>
            <a:ext cx="2368451" cy="129778"/>
          </a:xfrm>
          <a:prstGeom prst="rect">
            <a:avLst/>
          </a:prstGeom>
          <a:solidFill>
            <a:srgbClr val="1E88E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Shape 41"/>
          <p:cNvSpPr/>
          <p:nvPr/>
        </p:nvSpPr>
        <p:spPr>
          <a:xfrm>
            <a:off x="272951" y="2532013"/>
            <a:ext cx="0" cy="129778"/>
          </a:xfrm>
          <a:prstGeom prst="line">
            <a:avLst/>
          </a:prstGeom>
          <a:noFill/>
          <a:ln w="19050">
            <a:solidFill>
              <a:srgbClr val="1E88E5"/>
            </a:solidFill>
            <a:prstDash val="solid"/>
          </a:ln>
        </p:spPr>
      </p:sp>
      <p:sp>
        <p:nvSpPr>
          <p:cNvPr id="50" name="Text 42"/>
          <p:cNvSpPr/>
          <p:nvPr/>
        </p:nvSpPr>
        <p:spPr>
          <a:xfrm>
            <a:off x="333226" y="2563564"/>
            <a:ext cx="229285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"/>
              </a:spcBef>
              <a:spcAft>
                <a:spcPts val="50"/>
              </a:spcAft>
              <a:buNone/>
            </a:pPr>
            <a:r>
              <a:rPr lang="en-US" sz="500" dirty="0">
                <a:solidFill>
                  <a:srgbClr val="4DD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public_data</a:t>
            </a:r>
            <a:pPr algn="l" indent="0" marL="0">
              <a:spcBef>
                <a:spcPts val="50"/>
              </a:spcBef>
              <a:spcAft>
                <a:spcPts val="50"/>
              </a:spcAft>
              <a:buNone/>
            </a:pPr>
            <a:r>
              <a:rPr lang="en-US" sz="5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(100 pts total)</a:t>
            </a:r>
            <a:endParaRPr lang="en-US" sz="500" dirty="0"/>
          </a:p>
        </p:txBody>
      </p:sp>
      <p:sp>
        <p:nvSpPr>
          <p:cNvPr id="51" name="Text 43"/>
          <p:cNvSpPr/>
          <p:nvPr/>
        </p:nvSpPr>
        <p:spPr>
          <a:xfrm>
            <a:off x="263426" y="2687092"/>
            <a:ext cx="447973" cy="101501"/>
          </a:xfrm>
          <a:prstGeom prst="roundRect">
            <a:avLst>
              <a:gd name="adj" fmla="val 37537"/>
            </a:avLst>
          </a:prstGeom>
          <a:solidFill>
            <a:srgbClr val="1E88E5">
              <a:alpha val="25000"/>
            </a:srgbClr>
          </a:solidFill>
          <a:ln w="9525">
            <a:solidFill>
              <a:srgbClr val="1565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4"/>
          <p:cNvSpPr/>
          <p:nvPr/>
        </p:nvSpPr>
        <p:spPr>
          <a:xfrm>
            <a:off x="323701" y="2709267"/>
            <a:ext cx="33397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openness 48</a:t>
            </a:r>
            <a:endParaRPr lang="en-US" sz="450" dirty="0"/>
          </a:p>
        </p:txBody>
      </p:sp>
      <p:sp>
        <p:nvSpPr>
          <p:cNvPr id="53" name="Text 45"/>
          <p:cNvSpPr/>
          <p:nvPr/>
        </p:nvSpPr>
        <p:spPr>
          <a:xfrm>
            <a:off x="749498" y="2687092"/>
            <a:ext cx="365224" cy="101501"/>
          </a:xfrm>
          <a:prstGeom prst="roundRect">
            <a:avLst>
              <a:gd name="adj" fmla="val 37537"/>
            </a:avLst>
          </a:prstGeom>
          <a:solidFill>
            <a:srgbClr val="1E88E5">
              <a:alpha val="25000"/>
            </a:srgbClr>
          </a:solidFill>
          <a:ln w="9525">
            <a:solidFill>
              <a:srgbClr val="1565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46"/>
          <p:cNvSpPr/>
          <p:nvPr/>
        </p:nvSpPr>
        <p:spPr>
          <a:xfrm>
            <a:off x="809774" y="2709267"/>
            <a:ext cx="249567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45</a:t>
            </a:r>
            <a:endParaRPr lang="en-US" sz="450" dirty="0"/>
          </a:p>
        </p:txBody>
      </p:sp>
      <p:sp>
        <p:nvSpPr>
          <p:cNvPr id="55" name="Text 47"/>
          <p:cNvSpPr/>
          <p:nvPr/>
        </p:nvSpPr>
        <p:spPr>
          <a:xfrm>
            <a:off x="1152823" y="2687092"/>
            <a:ext cx="311200" cy="101501"/>
          </a:xfrm>
          <a:prstGeom prst="roundRect">
            <a:avLst>
              <a:gd name="adj" fmla="val 37537"/>
            </a:avLst>
          </a:prstGeom>
          <a:solidFill>
            <a:srgbClr val="1E88E5">
              <a:alpha val="25000"/>
            </a:srgbClr>
          </a:solidFill>
          <a:ln w="9525">
            <a:solidFill>
              <a:srgbClr val="1565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48"/>
          <p:cNvSpPr/>
          <p:nvPr/>
        </p:nvSpPr>
        <p:spPr>
          <a:xfrm>
            <a:off x="1213098" y="2709267"/>
            <a:ext cx="194462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mgmt 7</a:t>
            </a:r>
            <a:endParaRPr lang="en-US" sz="450" dirty="0"/>
          </a:p>
        </p:txBody>
      </p:sp>
      <p:sp>
        <p:nvSpPr>
          <p:cNvPr id="57" name="Text 49"/>
          <p:cNvSpPr/>
          <p:nvPr/>
        </p:nvSpPr>
        <p:spPr>
          <a:xfrm>
            <a:off x="263426" y="2826693"/>
            <a:ext cx="2368451" cy="129778"/>
          </a:xfrm>
          <a:prstGeom prst="rect">
            <a:avLst/>
          </a:prstGeom>
          <a:solidFill>
            <a:srgbClr val="1E88E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Shape 50"/>
          <p:cNvSpPr/>
          <p:nvPr/>
        </p:nvSpPr>
        <p:spPr>
          <a:xfrm>
            <a:off x="272951" y="2826693"/>
            <a:ext cx="0" cy="129778"/>
          </a:xfrm>
          <a:prstGeom prst="line">
            <a:avLst/>
          </a:prstGeom>
          <a:noFill/>
          <a:ln w="19050">
            <a:solidFill>
              <a:srgbClr val="1E88E5"/>
            </a:solidFill>
            <a:prstDash val="solid"/>
          </a:ln>
        </p:spPr>
      </p:sp>
      <p:sp>
        <p:nvSpPr>
          <p:cNvPr id="59" name="Text 51"/>
          <p:cNvSpPr/>
          <p:nvPr/>
        </p:nvSpPr>
        <p:spPr>
          <a:xfrm>
            <a:off x="333226" y="2858244"/>
            <a:ext cx="229285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"/>
              </a:spcBef>
              <a:spcAft>
                <a:spcPts val="50"/>
              </a:spcAft>
              <a:buNone/>
            </a:pPr>
            <a:r>
              <a:rPr lang="en-US" sz="500" dirty="0">
                <a:solidFill>
                  <a:srgbClr val="4DD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data_admin</a:t>
            </a:r>
            <a:pPr algn="l" indent="0" marL="0">
              <a:spcBef>
                <a:spcPts val="50"/>
              </a:spcBef>
              <a:spcAft>
                <a:spcPts val="50"/>
              </a:spcAft>
              <a:buNone/>
            </a:pPr>
            <a:r>
              <a:rPr lang="en-US" sz="5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(100 pts total)</a:t>
            </a:r>
            <a:endParaRPr lang="en-US" sz="500" dirty="0"/>
          </a:p>
        </p:txBody>
      </p:sp>
      <p:sp>
        <p:nvSpPr>
          <p:cNvPr id="60" name="Text 52"/>
          <p:cNvSpPr/>
          <p:nvPr/>
        </p:nvSpPr>
        <p:spPr>
          <a:xfrm>
            <a:off x="263426" y="2981771"/>
            <a:ext cx="406598" cy="101501"/>
          </a:xfrm>
          <a:prstGeom prst="roundRect">
            <a:avLst>
              <a:gd name="adj" fmla="val 37537"/>
            </a:avLst>
          </a:prstGeom>
          <a:solidFill>
            <a:srgbClr val="1E88E5">
              <a:alpha val="25000"/>
            </a:srgbClr>
          </a:solidFill>
          <a:ln w="9525">
            <a:solidFill>
              <a:srgbClr val="1565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3"/>
          <p:cNvSpPr/>
          <p:nvPr/>
        </p:nvSpPr>
        <p:spPr>
          <a:xfrm>
            <a:off x="323701" y="3003947"/>
            <a:ext cx="291769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50</a:t>
            </a:r>
            <a:endParaRPr lang="en-US" sz="450" dirty="0"/>
          </a:p>
        </p:txBody>
      </p:sp>
      <p:sp>
        <p:nvSpPr>
          <p:cNvPr id="62" name="Text 54"/>
          <p:cNvSpPr/>
          <p:nvPr/>
        </p:nvSpPr>
        <p:spPr>
          <a:xfrm>
            <a:off x="708124" y="2981771"/>
            <a:ext cx="387548" cy="101501"/>
          </a:xfrm>
          <a:prstGeom prst="roundRect">
            <a:avLst>
              <a:gd name="adj" fmla="val 37537"/>
            </a:avLst>
          </a:prstGeom>
          <a:solidFill>
            <a:srgbClr val="1E88E5">
              <a:alpha val="25000"/>
            </a:srgbClr>
          </a:solidFill>
          <a:ln w="9525">
            <a:solidFill>
              <a:srgbClr val="1565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55"/>
          <p:cNvSpPr/>
          <p:nvPr/>
        </p:nvSpPr>
        <p:spPr>
          <a:xfrm>
            <a:off x="768400" y="3003947"/>
            <a:ext cx="272338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sharing 45</a:t>
            </a:r>
            <a:endParaRPr lang="en-US" sz="450" dirty="0"/>
          </a:p>
        </p:txBody>
      </p:sp>
      <p:sp>
        <p:nvSpPr>
          <p:cNvPr id="64" name="Text 56"/>
          <p:cNvSpPr/>
          <p:nvPr/>
        </p:nvSpPr>
        <p:spPr>
          <a:xfrm>
            <a:off x="1133773" y="2981771"/>
            <a:ext cx="311200" cy="101501"/>
          </a:xfrm>
          <a:prstGeom prst="roundRect">
            <a:avLst>
              <a:gd name="adj" fmla="val 37537"/>
            </a:avLst>
          </a:prstGeom>
          <a:solidFill>
            <a:srgbClr val="1E88E5">
              <a:alpha val="25000"/>
            </a:srgbClr>
          </a:solidFill>
          <a:ln w="9525">
            <a:solidFill>
              <a:srgbClr val="1565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57"/>
          <p:cNvSpPr/>
          <p:nvPr/>
        </p:nvSpPr>
        <p:spPr>
          <a:xfrm>
            <a:off x="1194048" y="3003947"/>
            <a:ext cx="194462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mgmt 5</a:t>
            </a:r>
            <a:endParaRPr lang="en-US" sz="450" dirty="0"/>
          </a:p>
        </p:txBody>
      </p:sp>
      <p:sp>
        <p:nvSpPr>
          <p:cNvPr id="66" name="Text 58"/>
          <p:cNvSpPr/>
          <p:nvPr/>
        </p:nvSpPr>
        <p:spPr>
          <a:xfrm>
            <a:off x="263426" y="3095923"/>
            <a:ext cx="241582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5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items: item_id, max_score, method, scoring_criteria, keywords</a:t>
            </a:r>
            <a:endParaRPr lang="en-US" sz="550" dirty="0"/>
          </a:p>
        </p:txBody>
      </p:sp>
      <p:sp>
        <p:nvSpPr>
          <p:cNvPr id="67" name="Text 59"/>
          <p:cNvSpPr/>
          <p:nvPr/>
        </p:nvSpPr>
        <p:spPr>
          <a:xfrm>
            <a:off x="177701" y="3330625"/>
            <a:ext cx="2539901" cy="447080"/>
          </a:xfrm>
          <a:prstGeom prst="roundRect">
            <a:avLst>
              <a:gd name="adj" fmla="val 17044"/>
            </a:avLst>
          </a:prstGeom>
          <a:solidFill>
            <a:srgbClr val="141432">
              <a:alpha val="80000"/>
            </a:srgbClr>
          </a:solidFill>
          <a:ln w="9525">
            <a:solidFill>
              <a:srgbClr val="1565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0"/>
          <p:cNvSpPr/>
          <p:nvPr/>
        </p:nvSpPr>
        <p:spPr>
          <a:xfrm>
            <a:off x="263426" y="3403550"/>
            <a:ext cx="2368451" cy="161627"/>
          </a:xfrm>
          <a:prstGeom prst="roundRect">
            <a:avLst>
              <a:gd name="adj" fmla="val 23573"/>
            </a:avLst>
          </a:prstGeom>
          <a:solidFill>
            <a:srgbClr val="1565C0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1"/>
          <p:cNvSpPr/>
          <p:nvPr/>
        </p:nvSpPr>
        <p:spPr>
          <a:xfrm>
            <a:off x="326827" y="3441502"/>
            <a:ext cx="228648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550" b="1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File Formats</a:t>
            </a:r>
            <a:endParaRPr lang="en-US" sz="550" dirty="0"/>
          </a:p>
        </p:txBody>
      </p:sp>
      <p:sp>
        <p:nvSpPr>
          <p:cNvPr id="70" name="Text 62"/>
          <p:cNvSpPr/>
          <p:nvPr/>
        </p:nvSpPr>
        <p:spPr>
          <a:xfrm>
            <a:off x="263426" y="3603278"/>
            <a:ext cx="282625" cy="101501"/>
          </a:xfrm>
          <a:prstGeom prst="roundRect">
            <a:avLst>
              <a:gd name="adj" fmla="val 37537"/>
            </a:avLst>
          </a:prstGeom>
          <a:solidFill>
            <a:srgbClr val="4DD0E1">
              <a:alpha val="20000"/>
            </a:srgbClr>
          </a:solidFill>
          <a:ln w="9525">
            <a:solidFill>
              <a:srgbClr val="00838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3"/>
          <p:cNvSpPr/>
          <p:nvPr/>
        </p:nvSpPr>
        <p:spPr>
          <a:xfrm>
            <a:off x="323701" y="3625453"/>
            <a:ext cx="165315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" b="1" dirty="0">
                <a:solidFill>
                  <a:srgbClr val="4DD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.hwpx</a:t>
            </a:r>
            <a:endParaRPr lang="en-US" sz="450" dirty="0"/>
          </a:p>
        </p:txBody>
      </p:sp>
      <p:sp>
        <p:nvSpPr>
          <p:cNvPr id="72" name="Text 64"/>
          <p:cNvSpPr/>
          <p:nvPr/>
        </p:nvSpPr>
        <p:spPr>
          <a:xfrm>
            <a:off x="584150" y="3603278"/>
            <a:ext cx="250775" cy="101501"/>
          </a:xfrm>
          <a:prstGeom prst="roundRect">
            <a:avLst>
              <a:gd name="adj" fmla="val 37537"/>
            </a:avLst>
          </a:prstGeom>
          <a:solidFill>
            <a:srgbClr val="4DD0E1">
              <a:alpha val="20000"/>
            </a:srgbClr>
          </a:solidFill>
          <a:ln w="9525">
            <a:solidFill>
              <a:srgbClr val="00838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65"/>
          <p:cNvSpPr/>
          <p:nvPr/>
        </p:nvSpPr>
        <p:spPr>
          <a:xfrm>
            <a:off x="644426" y="3625453"/>
            <a:ext cx="132829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" b="1" dirty="0">
                <a:solidFill>
                  <a:srgbClr val="4DD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.hwp</a:t>
            </a:r>
            <a:endParaRPr lang="en-US" sz="450" dirty="0"/>
          </a:p>
        </p:txBody>
      </p:sp>
      <p:sp>
        <p:nvSpPr>
          <p:cNvPr id="74" name="Text 66"/>
          <p:cNvSpPr/>
          <p:nvPr/>
        </p:nvSpPr>
        <p:spPr>
          <a:xfrm>
            <a:off x="873026" y="3603278"/>
            <a:ext cx="225326" cy="101501"/>
          </a:xfrm>
          <a:prstGeom prst="roundRect">
            <a:avLst>
              <a:gd name="adj" fmla="val 37537"/>
            </a:avLst>
          </a:prstGeom>
          <a:solidFill>
            <a:srgbClr val="4DD0E1">
              <a:alpha val="20000"/>
            </a:srgbClr>
          </a:solidFill>
          <a:ln w="9525">
            <a:solidFill>
              <a:srgbClr val="00838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67"/>
          <p:cNvSpPr/>
          <p:nvPr/>
        </p:nvSpPr>
        <p:spPr>
          <a:xfrm>
            <a:off x="933301" y="3625453"/>
            <a:ext cx="106871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" b="1" dirty="0">
                <a:solidFill>
                  <a:srgbClr val="4DD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.pdf</a:t>
            </a:r>
            <a:endParaRPr lang="en-US" sz="450" dirty="0"/>
          </a:p>
        </p:txBody>
      </p:sp>
      <p:sp>
        <p:nvSpPr>
          <p:cNvPr id="76" name="Text 68"/>
          <p:cNvSpPr/>
          <p:nvPr/>
        </p:nvSpPr>
        <p:spPr>
          <a:xfrm>
            <a:off x="1136452" y="3603278"/>
            <a:ext cx="269825" cy="101501"/>
          </a:xfrm>
          <a:prstGeom prst="roundRect">
            <a:avLst>
              <a:gd name="adj" fmla="val 37537"/>
            </a:avLst>
          </a:prstGeom>
          <a:solidFill>
            <a:srgbClr val="4DD0E1">
              <a:alpha val="20000"/>
            </a:srgbClr>
          </a:solidFill>
          <a:ln w="9525">
            <a:solidFill>
              <a:srgbClr val="00838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69"/>
          <p:cNvSpPr/>
          <p:nvPr/>
        </p:nvSpPr>
        <p:spPr>
          <a:xfrm>
            <a:off x="1196727" y="3625453"/>
            <a:ext cx="15226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" b="1" dirty="0">
                <a:solidFill>
                  <a:srgbClr val="4DD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.docx</a:t>
            </a:r>
            <a:endParaRPr lang="en-US" sz="450" dirty="0"/>
          </a:p>
        </p:txBody>
      </p:sp>
      <p:sp>
        <p:nvSpPr>
          <p:cNvPr id="78" name="Text 70"/>
          <p:cNvSpPr/>
          <p:nvPr/>
        </p:nvSpPr>
        <p:spPr>
          <a:xfrm>
            <a:off x="1444377" y="3603278"/>
            <a:ext cx="247799" cy="101501"/>
          </a:xfrm>
          <a:prstGeom prst="roundRect">
            <a:avLst>
              <a:gd name="adj" fmla="val 37537"/>
            </a:avLst>
          </a:prstGeom>
          <a:solidFill>
            <a:srgbClr val="4DD0E1">
              <a:alpha val="20000"/>
            </a:srgbClr>
          </a:solidFill>
          <a:ln w="9525">
            <a:solidFill>
              <a:srgbClr val="00838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1"/>
          <p:cNvSpPr/>
          <p:nvPr/>
        </p:nvSpPr>
        <p:spPr>
          <a:xfrm>
            <a:off x="1504652" y="3625453"/>
            <a:ext cx="129793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" b="1" dirty="0">
                <a:solidFill>
                  <a:srgbClr val="4DD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.xlsx</a:t>
            </a:r>
            <a:endParaRPr lang="en-US" sz="450" dirty="0"/>
          </a:p>
        </p:txBody>
      </p:sp>
      <p:sp>
        <p:nvSpPr>
          <p:cNvPr id="80" name="Text 72"/>
          <p:cNvSpPr/>
          <p:nvPr/>
        </p:nvSpPr>
        <p:spPr>
          <a:xfrm>
            <a:off x="1730276" y="3603278"/>
            <a:ext cx="206276" cy="101501"/>
          </a:xfrm>
          <a:prstGeom prst="roundRect">
            <a:avLst>
              <a:gd name="adj" fmla="val 37537"/>
            </a:avLst>
          </a:prstGeom>
          <a:solidFill>
            <a:srgbClr val="4DD0E1">
              <a:alpha val="20000"/>
            </a:srgbClr>
          </a:solidFill>
          <a:ln w="9525">
            <a:solidFill>
              <a:srgbClr val="00838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3"/>
          <p:cNvSpPr/>
          <p:nvPr/>
        </p:nvSpPr>
        <p:spPr>
          <a:xfrm>
            <a:off x="1790551" y="3625453"/>
            <a:ext cx="87440" cy="5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" b="1" dirty="0">
                <a:solidFill>
                  <a:srgbClr val="4DD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.txt</a:t>
            </a:r>
            <a:endParaRPr lang="en-US" sz="450" dirty="0"/>
          </a:p>
        </p:txBody>
      </p:sp>
      <p:sp>
        <p:nvSpPr>
          <p:cNvPr id="82" name="Text 74"/>
          <p:cNvSpPr/>
          <p:nvPr/>
        </p:nvSpPr>
        <p:spPr>
          <a:xfrm>
            <a:off x="2819102" y="1041350"/>
            <a:ext cx="2793950" cy="155377"/>
          </a:xfrm>
          <a:prstGeom prst="rect">
            <a:avLst/>
          </a:prstGeom>
          <a:solidFill>
            <a:srgbClr val="1E88E5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Shape 75"/>
          <p:cNvSpPr/>
          <p:nvPr/>
        </p:nvSpPr>
        <p:spPr>
          <a:xfrm>
            <a:off x="2833390" y="1041350"/>
            <a:ext cx="0" cy="155377"/>
          </a:xfrm>
          <a:prstGeom prst="line">
            <a:avLst/>
          </a:prstGeom>
          <a:noFill/>
          <a:ln w="28575">
            <a:solidFill>
              <a:srgbClr val="1E88E5"/>
            </a:solidFill>
            <a:prstDash val="solid"/>
          </a:ln>
        </p:spPr>
      </p:sp>
      <p:sp>
        <p:nvSpPr>
          <p:cNvPr id="84" name="Text 76"/>
          <p:cNvSpPr/>
          <p:nvPr/>
        </p:nvSpPr>
        <p:spPr>
          <a:xfrm>
            <a:off x="2923877" y="1066651"/>
            <a:ext cx="26652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Storage Architecture</a:t>
            </a:r>
            <a:endParaRPr lang="en-US" sz="750" dirty="0"/>
          </a:p>
        </p:txBody>
      </p:sp>
      <p:sp>
        <p:nvSpPr>
          <p:cNvPr id="85" name="Text 77"/>
          <p:cNvSpPr/>
          <p:nvPr/>
        </p:nvSpPr>
        <p:spPr>
          <a:xfrm>
            <a:off x="2819102" y="1260128"/>
            <a:ext cx="2793950" cy="1351062"/>
          </a:xfrm>
          <a:prstGeom prst="roundRect">
            <a:avLst>
              <a:gd name="adj" fmla="val 5640"/>
            </a:avLst>
          </a:prstGeom>
          <a:solidFill>
            <a:srgbClr val="141432">
              <a:alpha val="80000"/>
            </a:srgbClr>
          </a:solidFill>
          <a:ln w="9525">
            <a:solidFill>
              <a:srgbClr val="1565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78"/>
          <p:cNvSpPr/>
          <p:nvPr/>
        </p:nvSpPr>
        <p:spPr>
          <a:xfrm>
            <a:off x="2904827" y="1333054"/>
            <a:ext cx="2622500" cy="180975"/>
          </a:xfrm>
          <a:prstGeom prst="roundRect">
            <a:avLst>
              <a:gd name="adj" fmla="val 28070"/>
            </a:avLst>
          </a:prstGeom>
          <a:solidFill>
            <a:srgbClr val="009688">
              <a:alpha val="20000"/>
            </a:srgbClr>
          </a:solidFill>
          <a:ln w="9525">
            <a:solidFill>
              <a:srgbClr val="00897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79"/>
          <p:cNvSpPr/>
          <p:nvPr/>
        </p:nvSpPr>
        <p:spPr>
          <a:xfrm>
            <a:off x="2977753" y="1380679"/>
            <a:ext cx="252618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DB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Pinecone Vector DB</a:t>
            </a:r>
            <a:endParaRPr lang="en-US" sz="600" dirty="0"/>
          </a:p>
        </p:txBody>
      </p:sp>
      <p:sp>
        <p:nvSpPr>
          <p:cNvPr id="88" name="Text 80"/>
          <p:cNvSpPr/>
          <p:nvPr/>
        </p:nvSpPr>
        <p:spPr>
          <a:xfrm>
            <a:off x="2904827" y="1526679"/>
            <a:ext cx="26749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550" dirty="0">
                <a:solidFill>
                  <a:srgbClr val="4DD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Index: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5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evaluation-guidelines | 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550" dirty="0">
                <a:solidFill>
                  <a:srgbClr val="4DD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Dim: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5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3072 | 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550" dirty="0">
                <a:solidFill>
                  <a:srgbClr val="4DD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Metric: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5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Cosine</a:t>
            </a:r>
            <a:endParaRPr lang="en-US" sz="550" dirty="0"/>
          </a:p>
        </p:txBody>
      </p:sp>
      <p:sp>
        <p:nvSpPr>
          <p:cNvPr id="89" name="Text 81"/>
          <p:cNvSpPr/>
          <p:nvPr/>
        </p:nvSpPr>
        <p:spPr>
          <a:xfrm>
            <a:off x="2904827" y="1625054"/>
            <a:ext cx="26749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550" dirty="0">
                <a:solidFill>
                  <a:srgbClr val="4DD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Spec: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5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Serverless (AWS us-east-1)</a:t>
            </a:r>
            <a:endParaRPr lang="en-US" sz="550" dirty="0"/>
          </a:p>
        </p:txBody>
      </p:sp>
      <p:sp>
        <p:nvSpPr>
          <p:cNvPr id="90" name="Text 82"/>
          <p:cNvSpPr/>
          <p:nvPr/>
        </p:nvSpPr>
        <p:spPr>
          <a:xfrm>
            <a:off x="2904827" y="1736080"/>
            <a:ext cx="2622500" cy="345579"/>
          </a:xfrm>
          <a:prstGeom prst="roundRect">
            <a:avLst>
              <a:gd name="adj" fmla="val 18375"/>
            </a:avLst>
          </a:prstGeom>
          <a:solidFill>
            <a:srgbClr val="0D2137">
              <a:alpha val="90000"/>
            </a:srgbClr>
          </a:solidFill>
          <a:ln w="9525">
            <a:solidFill>
              <a:srgbClr val="0D47A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Text 83"/>
          <p:cNvSpPr/>
          <p:nvPr/>
        </p:nvSpPr>
        <p:spPr>
          <a:xfrm>
            <a:off x="2977753" y="1802606"/>
            <a:ext cx="252618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"/>
              </a:spcBef>
              <a:spcAft>
                <a:spcPts val="50"/>
              </a:spcAft>
              <a:buNone/>
            </a:pPr>
            <a:r>
              <a:rPr lang="en-US" sz="500" dirty="0">
                <a:solidFill>
                  <a:srgbClr val="4DD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namespace</a:t>
            </a:r>
            <a:endParaRPr lang="en-US" sz="500" dirty="0"/>
          </a:p>
        </p:txBody>
      </p:sp>
      <p:sp>
        <p:nvSpPr>
          <p:cNvPr id="92" name="Text 84"/>
          <p:cNvSpPr/>
          <p:nvPr/>
        </p:nvSpPr>
        <p:spPr>
          <a:xfrm>
            <a:off x="2977753" y="1875532"/>
            <a:ext cx="252618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"/>
              </a:spcBef>
              <a:spcAft>
                <a:spcPts val="50"/>
              </a:spcAft>
              <a:buNone/>
            </a:pPr>
            <a:r>
              <a:rPr lang="en-US" sz="5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chunks with full text content</a:t>
            </a:r>
            <a:endParaRPr lang="en-US" sz="500" dirty="0"/>
          </a:p>
        </p:txBody>
      </p:sp>
      <p:sp>
        <p:nvSpPr>
          <p:cNvPr id="93" name="Text 85"/>
          <p:cNvSpPr/>
          <p:nvPr/>
        </p:nvSpPr>
        <p:spPr>
          <a:xfrm>
            <a:off x="2977753" y="1948458"/>
            <a:ext cx="252618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"/>
              </a:spcBef>
              <a:spcAft>
                <a:spcPts val="50"/>
              </a:spcAft>
              <a:buNone/>
            </a:pPr>
            <a:r>
              <a:rPr lang="en-US" sz="5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Metadata: source, chunk_id, category</a:t>
            </a:r>
            <a:endParaRPr lang="en-US" sz="500" dirty="0"/>
          </a:p>
        </p:txBody>
      </p:sp>
      <p:sp>
        <p:nvSpPr>
          <p:cNvPr id="94" name="Text 86"/>
          <p:cNvSpPr/>
          <p:nvPr/>
        </p:nvSpPr>
        <p:spPr>
          <a:xfrm>
            <a:off x="2904827" y="2119759"/>
            <a:ext cx="2622500" cy="418505"/>
          </a:xfrm>
          <a:prstGeom prst="roundRect">
            <a:avLst>
              <a:gd name="adj" fmla="val 15173"/>
            </a:avLst>
          </a:prstGeom>
          <a:solidFill>
            <a:srgbClr val="0D2137">
              <a:alpha val="90000"/>
            </a:srgbClr>
          </a:solidFill>
          <a:ln w="9525">
            <a:solidFill>
              <a:srgbClr val="0D47A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87"/>
          <p:cNvSpPr/>
          <p:nvPr/>
        </p:nvSpPr>
        <p:spPr>
          <a:xfrm>
            <a:off x="2977753" y="2186285"/>
            <a:ext cx="252618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"/>
              </a:spcBef>
              <a:spcAft>
                <a:spcPts val="50"/>
              </a:spcAft>
              <a:buNone/>
            </a:pPr>
            <a:r>
              <a:rPr lang="en-US" sz="500" dirty="0">
                <a:solidFill>
                  <a:srgbClr val="4DD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namespace</a:t>
            </a:r>
            <a:endParaRPr lang="en-US" sz="500" dirty="0"/>
          </a:p>
        </p:txBody>
      </p:sp>
      <p:sp>
        <p:nvSpPr>
          <p:cNvPr id="96" name="Text 88"/>
          <p:cNvSpPr/>
          <p:nvPr/>
        </p:nvSpPr>
        <p:spPr>
          <a:xfrm>
            <a:off x="2977753" y="2259211"/>
            <a:ext cx="252618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"/>
              </a:spcBef>
              <a:spcAft>
                <a:spcPts val="50"/>
              </a:spcAft>
              <a:buNone/>
            </a:pPr>
            <a:r>
              <a:rPr lang="en-US" sz="5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evaluation items (17 vectors)</a:t>
            </a:r>
            <a:endParaRPr lang="en-US" sz="500" dirty="0"/>
          </a:p>
        </p:txBody>
      </p:sp>
      <p:sp>
        <p:nvSpPr>
          <p:cNvPr id="97" name="Text 89"/>
          <p:cNvSpPr/>
          <p:nvPr/>
        </p:nvSpPr>
        <p:spPr>
          <a:xfrm>
            <a:off x="2977753" y="2332137"/>
            <a:ext cx="252618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"/>
              </a:spcBef>
              <a:spcAft>
                <a:spcPts val="50"/>
              </a:spcAft>
              <a:buNone/>
            </a:pPr>
            <a:r>
              <a:rPr lang="en-US" sz="5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Metadata: item_id, item_name, category,</a:t>
            </a:r>
            <a:endParaRPr lang="en-US" sz="500" dirty="0"/>
          </a:p>
        </p:txBody>
      </p:sp>
      <p:sp>
        <p:nvSpPr>
          <p:cNvPr id="98" name="Text 90"/>
          <p:cNvSpPr/>
          <p:nvPr/>
        </p:nvSpPr>
        <p:spPr>
          <a:xfrm>
            <a:off x="2977753" y="2405063"/>
            <a:ext cx="252618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"/>
              </a:spcBef>
              <a:spcAft>
                <a:spcPts val="50"/>
              </a:spcAft>
              <a:buNone/>
            </a:pPr>
            <a:r>
              <a:rPr lang="en-US" sz="5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max_score, scoring_criteria, keywords</a:t>
            </a:r>
            <a:endParaRPr lang="en-US" sz="500" dirty="0"/>
          </a:p>
        </p:txBody>
      </p:sp>
      <p:sp>
        <p:nvSpPr>
          <p:cNvPr id="99" name="Text 91"/>
          <p:cNvSpPr/>
          <p:nvPr/>
        </p:nvSpPr>
        <p:spPr>
          <a:xfrm>
            <a:off x="2819102" y="2674590"/>
            <a:ext cx="2793950" cy="796082"/>
          </a:xfrm>
          <a:prstGeom prst="roundRect">
            <a:avLst>
              <a:gd name="adj" fmla="val 9572"/>
            </a:avLst>
          </a:prstGeom>
          <a:solidFill>
            <a:srgbClr val="141432">
              <a:alpha val="80000"/>
            </a:srgbClr>
          </a:solidFill>
          <a:ln w="9525">
            <a:solidFill>
              <a:srgbClr val="1565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" name="Text 92"/>
          <p:cNvSpPr/>
          <p:nvPr/>
        </p:nvSpPr>
        <p:spPr>
          <a:xfrm>
            <a:off x="2904827" y="2747516"/>
            <a:ext cx="2622500" cy="180975"/>
          </a:xfrm>
          <a:prstGeom prst="roundRect">
            <a:avLst>
              <a:gd name="adj" fmla="val 28070"/>
            </a:avLst>
          </a:prstGeom>
          <a:solidFill>
            <a:srgbClr val="FFB74D">
              <a:alpha val="15000"/>
            </a:srgbClr>
          </a:solidFill>
          <a:ln w="9525">
            <a:solidFill>
              <a:srgbClr val="F57C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Text 93"/>
          <p:cNvSpPr/>
          <p:nvPr/>
        </p:nvSpPr>
        <p:spPr>
          <a:xfrm>
            <a:off x="2977753" y="2795141"/>
            <a:ext cx="252618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B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ChunkStore (Local)</a:t>
            </a:r>
            <a:endParaRPr lang="en-US" sz="600" dirty="0"/>
          </a:p>
        </p:txBody>
      </p:sp>
      <p:sp>
        <p:nvSpPr>
          <p:cNvPr id="102" name="Text 94"/>
          <p:cNvSpPr/>
          <p:nvPr/>
        </p:nvSpPr>
        <p:spPr>
          <a:xfrm>
            <a:off x="2904827" y="2941141"/>
            <a:ext cx="26749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550" dirty="0">
                <a:solidFill>
                  <a:srgbClr val="4DD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Path: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5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data/evaluation_rag/chunks/</a:t>
            </a:r>
            <a:endParaRPr lang="en-US" sz="550" dirty="0"/>
          </a:p>
        </p:txBody>
      </p:sp>
      <p:sp>
        <p:nvSpPr>
          <p:cNvPr id="103" name="Text 95"/>
          <p:cNvSpPr/>
          <p:nvPr/>
        </p:nvSpPr>
        <p:spPr>
          <a:xfrm>
            <a:off x="2904827" y="3052167"/>
            <a:ext cx="2622500" cy="345579"/>
          </a:xfrm>
          <a:prstGeom prst="roundRect">
            <a:avLst>
              <a:gd name="adj" fmla="val 18375"/>
            </a:avLst>
          </a:prstGeom>
          <a:solidFill>
            <a:srgbClr val="0D2137">
              <a:alpha val="90000"/>
            </a:srgbClr>
          </a:solidFill>
          <a:ln w="9525">
            <a:solidFill>
              <a:srgbClr val="0D47A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4" name="Text 96"/>
          <p:cNvSpPr/>
          <p:nvPr/>
        </p:nvSpPr>
        <p:spPr>
          <a:xfrm>
            <a:off x="2977753" y="3118693"/>
            <a:ext cx="252618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"/>
              </a:spcBef>
              <a:spcAft>
                <a:spcPts val="50"/>
              </a:spcAft>
              <a:buNone/>
            </a:pPr>
            <a:r>
              <a:rPr lang="en-US" sz="5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index.json: doc_name -&gt; {doc_id, chunks_file, num_chunks}</a:t>
            </a:r>
            <a:endParaRPr lang="en-US" sz="500" dirty="0"/>
          </a:p>
        </p:txBody>
      </p:sp>
      <p:sp>
        <p:nvSpPr>
          <p:cNvPr id="105" name="Text 97"/>
          <p:cNvSpPr/>
          <p:nvPr/>
        </p:nvSpPr>
        <p:spPr>
          <a:xfrm>
            <a:off x="2977753" y="3191619"/>
            <a:ext cx="252618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"/>
              </a:spcBef>
              <a:spcAft>
                <a:spcPts val="50"/>
              </a:spcAft>
              <a:buNone/>
            </a:pPr>
            <a:r>
              <a:rPr lang="en-US" sz="5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Per-doc files: {doc_hash}.json with chunk text</a:t>
            </a:r>
            <a:endParaRPr lang="en-US" sz="500" dirty="0"/>
          </a:p>
        </p:txBody>
      </p:sp>
      <p:sp>
        <p:nvSpPr>
          <p:cNvPr id="106" name="Text 98"/>
          <p:cNvSpPr/>
          <p:nvPr/>
        </p:nvSpPr>
        <p:spPr>
          <a:xfrm>
            <a:off x="2977753" y="3264545"/>
            <a:ext cx="252618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"/>
              </a:spcBef>
              <a:spcAft>
                <a:spcPts val="50"/>
              </a:spcAft>
              <a:buNone/>
            </a:pPr>
            <a:r>
              <a:rPr lang="en-US" sz="5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ID: MD5 hash of source name</a:t>
            </a:r>
            <a:endParaRPr lang="en-US" sz="500" dirty="0"/>
          </a:p>
        </p:txBody>
      </p:sp>
      <p:sp>
        <p:nvSpPr>
          <p:cNvPr id="107" name="Text 99"/>
          <p:cNvSpPr/>
          <p:nvPr/>
        </p:nvSpPr>
        <p:spPr>
          <a:xfrm>
            <a:off x="2819102" y="3534073"/>
            <a:ext cx="2793950" cy="869007"/>
          </a:xfrm>
          <a:prstGeom prst="roundRect">
            <a:avLst>
              <a:gd name="adj" fmla="val 8769"/>
            </a:avLst>
          </a:prstGeom>
          <a:solidFill>
            <a:srgbClr val="141432">
              <a:alpha val="80000"/>
            </a:srgbClr>
          </a:solidFill>
          <a:ln w="9525">
            <a:solidFill>
              <a:srgbClr val="1565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8" name="Text 100"/>
          <p:cNvSpPr/>
          <p:nvPr/>
        </p:nvSpPr>
        <p:spPr>
          <a:xfrm>
            <a:off x="2904827" y="3606998"/>
            <a:ext cx="2622500" cy="180975"/>
          </a:xfrm>
          <a:prstGeom prst="roundRect">
            <a:avLst>
              <a:gd name="adj" fmla="val 28070"/>
            </a:avLst>
          </a:prstGeom>
          <a:solidFill>
            <a:srgbClr val="64B5F6">
              <a:alpha val="15000"/>
            </a:srgbClr>
          </a:solidFill>
          <a:ln w="9525">
            <a:solidFill>
              <a:srgbClr val="1976D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9" name="Text 101"/>
          <p:cNvSpPr/>
          <p:nvPr/>
        </p:nvSpPr>
        <p:spPr>
          <a:xfrm>
            <a:off x="2977753" y="3654623"/>
            <a:ext cx="252618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(Results)</a:t>
            </a:r>
            <a:endParaRPr lang="en-US" sz="600" dirty="0"/>
          </a:p>
        </p:txBody>
      </p:sp>
      <p:sp>
        <p:nvSpPr>
          <p:cNvPr id="110" name="Text 102"/>
          <p:cNvSpPr/>
          <p:nvPr/>
        </p:nvSpPr>
        <p:spPr>
          <a:xfrm>
            <a:off x="2904827" y="3800624"/>
            <a:ext cx="26749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550" dirty="0">
                <a:solidFill>
                  <a:srgbClr val="4DD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Table: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5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evaluation_rag_evaluations</a:t>
            </a:r>
            <a:endParaRPr lang="en-US" sz="550" dirty="0"/>
          </a:p>
        </p:txBody>
      </p:sp>
      <p:sp>
        <p:nvSpPr>
          <p:cNvPr id="111" name="Text 103"/>
          <p:cNvSpPr/>
          <p:nvPr/>
        </p:nvSpPr>
        <p:spPr>
          <a:xfrm>
            <a:off x="2904827" y="3911650"/>
            <a:ext cx="2622500" cy="418505"/>
          </a:xfrm>
          <a:prstGeom prst="roundRect">
            <a:avLst>
              <a:gd name="adj" fmla="val 15173"/>
            </a:avLst>
          </a:prstGeom>
          <a:solidFill>
            <a:srgbClr val="0D2137">
              <a:alpha val="90000"/>
            </a:srgbClr>
          </a:solidFill>
          <a:ln w="9525">
            <a:solidFill>
              <a:srgbClr val="0D47A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2" name="Text 104"/>
          <p:cNvSpPr/>
          <p:nvPr/>
        </p:nvSpPr>
        <p:spPr>
          <a:xfrm>
            <a:off x="2977753" y="3978176"/>
            <a:ext cx="252618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"/>
              </a:spcBef>
              <a:spcAft>
                <a:spcPts val="50"/>
              </a:spcAft>
              <a:buNone/>
            </a:pPr>
            <a:r>
              <a:rPr lang="en-US" sz="5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(UUID) | input_data | query | context</a:t>
            </a:r>
            <a:endParaRPr lang="en-US" sz="500" dirty="0"/>
          </a:p>
        </p:txBody>
      </p:sp>
      <p:sp>
        <p:nvSpPr>
          <p:cNvPr id="113" name="Text 105"/>
          <p:cNvSpPr/>
          <p:nvPr/>
        </p:nvSpPr>
        <p:spPr>
          <a:xfrm>
            <a:off x="2977753" y="4051102"/>
            <a:ext cx="252618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"/>
              </a:spcBef>
              <a:spcAft>
                <a:spcPts val="50"/>
              </a:spcAft>
              <a:buNone/>
            </a:pPr>
            <a:r>
              <a:rPr lang="en-US" sz="5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| score (0-100) | issues (JSON)</a:t>
            </a:r>
            <a:endParaRPr lang="en-US" sz="500" dirty="0"/>
          </a:p>
        </p:txBody>
      </p:sp>
      <p:sp>
        <p:nvSpPr>
          <p:cNvPr id="114" name="Text 106"/>
          <p:cNvSpPr/>
          <p:nvPr/>
        </p:nvSpPr>
        <p:spPr>
          <a:xfrm>
            <a:off x="2977753" y="4124027"/>
            <a:ext cx="252618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"/>
              </a:spcBef>
              <a:spcAft>
                <a:spcPts val="50"/>
              </a:spcAft>
              <a:buNone/>
            </a:pPr>
            <a:r>
              <a:rPr lang="en-US" sz="5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improvements (JSON) | item_scores (JSON)</a:t>
            </a:r>
            <a:endParaRPr lang="en-US" sz="500" dirty="0"/>
          </a:p>
        </p:txBody>
      </p:sp>
      <p:sp>
        <p:nvSpPr>
          <p:cNvPr id="115" name="Text 107"/>
          <p:cNvSpPr/>
          <p:nvPr/>
        </p:nvSpPr>
        <p:spPr>
          <a:xfrm>
            <a:off x="2977753" y="4196953"/>
            <a:ext cx="252618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"/>
              </a:spcBef>
              <a:spcAft>
                <a:spcPts val="50"/>
              </a:spcAft>
              <a:buNone/>
            </a:pPr>
            <a:r>
              <a:rPr lang="en-US" sz="5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max_possible_score | created_at | updated_at</a:t>
            </a:r>
            <a:endParaRPr lang="en-US" sz="500" dirty="0"/>
          </a:p>
        </p:txBody>
      </p:sp>
      <p:sp>
        <p:nvSpPr>
          <p:cNvPr id="116" name="Text 108"/>
          <p:cNvSpPr/>
          <p:nvPr/>
        </p:nvSpPr>
        <p:spPr>
          <a:xfrm>
            <a:off x="5714554" y="1041350"/>
            <a:ext cx="3251746" cy="155377"/>
          </a:xfrm>
          <a:prstGeom prst="rect">
            <a:avLst/>
          </a:prstGeom>
          <a:solidFill>
            <a:srgbClr val="1E88E5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7" name="Shape 109"/>
          <p:cNvSpPr/>
          <p:nvPr/>
        </p:nvSpPr>
        <p:spPr>
          <a:xfrm>
            <a:off x="5728841" y="1041350"/>
            <a:ext cx="0" cy="155377"/>
          </a:xfrm>
          <a:prstGeom prst="line">
            <a:avLst/>
          </a:prstGeom>
          <a:noFill/>
          <a:ln w="28575">
            <a:solidFill>
              <a:srgbClr val="1E88E5"/>
            </a:solidFill>
            <a:prstDash val="solid"/>
          </a:ln>
        </p:spPr>
      </p:sp>
      <p:sp>
        <p:nvSpPr>
          <p:cNvPr id="118" name="Text 110"/>
          <p:cNvSpPr/>
          <p:nvPr/>
        </p:nvSpPr>
        <p:spPr>
          <a:xfrm>
            <a:off x="5819329" y="1066651"/>
            <a:ext cx="31321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&amp; Evaluation Flow</a:t>
            </a:r>
            <a:endParaRPr lang="en-US" sz="750" dirty="0"/>
          </a:p>
        </p:txBody>
      </p:sp>
      <p:sp>
        <p:nvSpPr>
          <p:cNvPr id="119" name="Text 111"/>
          <p:cNvSpPr/>
          <p:nvPr/>
        </p:nvSpPr>
        <p:spPr>
          <a:xfrm>
            <a:off x="5714554" y="1260128"/>
            <a:ext cx="3251746" cy="3756422"/>
          </a:xfrm>
          <a:prstGeom prst="roundRect">
            <a:avLst>
              <a:gd name="adj" fmla="val 2343"/>
            </a:avLst>
          </a:prstGeom>
          <a:solidFill>
            <a:srgbClr val="141432">
              <a:alpha val="80000"/>
            </a:srgbClr>
          </a:solidFill>
          <a:ln w="9525">
            <a:solidFill>
              <a:srgbClr val="1565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0" name="Text 112"/>
          <p:cNvSpPr/>
          <p:nvPr/>
        </p:nvSpPr>
        <p:spPr>
          <a:xfrm>
            <a:off x="5800279" y="1345704"/>
            <a:ext cx="3080296" cy="180975"/>
          </a:xfrm>
          <a:prstGeom prst="roundRect">
            <a:avLst>
              <a:gd name="adj" fmla="val 28070"/>
            </a:avLst>
          </a:prstGeom>
          <a:solidFill>
            <a:srgbClr val="4DD0E1">
              <a:alpha val="10000"/>
            </a:srgbClr>
          </a:solidFill>
          <a:ln w="9525">
            <a:solidFill>
              <a:srgbClr val="00838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1" name="Text 113"/>
          <p:cNvSpPr/>
          <p:nvPr/>
        </p:nvSpPr>
        <p:spPr>
          <a:xfrm>
            <a:off x="5873204" y="1393329"/>
            <a:ext cx="299313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dirty="0">
                <a:solidFill>
                  <a:srgbClr val="4DD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Query / File Upload</a:t>
            </a:r>
            <a:endParaRPr lang="en-US" sz="550" dirty="0"/>
          </a:p>
        </p:txBody>
      </p:sp>
      <p:pic>
        <p:nvPicPr>
          <p:cNvPr id="122" name="Image 6" descr="/home/iamooo/repos/unified/workspace/arrow-down-sm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9602" y="1545729"/>
            <a:ext cx="101501" cy="126950"/>
          </a:xfrm>
          <a:prstGeom prst="rect">
            <a:avLst/>
          </a:prstGeom>
        </p:spPr>
      </p:pic>
      <p:sp>
        <p:nvSpPr>
          <p:cNvPr id="123" name="Text 114"/>
          <p:cNvSpPr/>
          <p:nvPr/>
        </p:nvSpPr>
        <p:spPr>
          <a:xfrm>
            <a:off x="5800279" y="1723430"/>
            <a:ext cx="3080296" cy="180975"/>
          </a:xfrm>
          <a:prstGeom prst="roundRect">
            <a:avLst>
              <a:gd name="adj" fmla="val 28070"/>
            </a:avLst>
          </a:prstGeom>
          <a:solidFill>
            <a:srgbClr val="4DD0E1">
              <a:alpha val="10000"/>
            </a:srgbClr>
          </a:solidFill>
          <a:ln w="9525">
            <a:solidFill>
              <a:srgbClr val="00838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4" name="Text 115"/>
          <p:cNvSpPr/>
          <p:nvPr/>
        </p:nvSpPr>
        <p:spPr>
          <a:xfrm>
            <a:off x="5873204" y="1771055"/>
            <a:ext cx="299313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dirty="0">
                <a:solidFill>
                  <a:srgbClr val="4DD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QueryProcessor: Normalize + Auto-detect Category</a:t>
            </a:r>
            <a:endParaRPr lang="en-US" sz="550" dirty="0"/>
          </a:p>
        </p:txBody>
      </p:sp>
      <p:pic>
        <p:nvPicPr>
          <p:cNvPr id="125" name="Image 7" descr="/home/iamooo/repos/unified/workspace/arrow-down-sm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89602" y="1923455"/>
            <a:ext cx="101501" cy="126950"/>
          </a:xfrm>
          <a:prstGeom prst="rect">
            <a:avLst/>
          </a:prstGeom>
        </p:spPr>
      </p:pic>
      <p:sp>
        <p:nvSpPr>
          <p:cNvPr id="126" name="Text 116"/>
          <p:cNvSpPr/>
          <p:nvPr/>
        </p:nvSpPr>
        <p:spPr>
          <a:xfrm>
            <a:off x="5800279" y="2101155"/>
            <a:ext cx="3080296" cy="180975"/>
          </a:xfrm>
          <a:prstGeom prst="roundRect">
            <a:avLst>
              <a:gd name="adj" fmla="val 28070"/>
            </a:avLst>
          </a:prstGeom>
          <a:solidFill>
            <a:srgbClr val="4DD0E1">
              <a:alpha val="10000"/>
            </a:srgbClr>
          </a:solidFill>
          <a:ln w="9525">
            <a:solidFill>
              <a:srgbClr val="00838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7" name="Text 117"/>
          <p:cNvSpPr/>
          <p:nvPr/>
        </p:nvSpPr>
        <p:spPr>
          <a:xfrm>
            <a:off x="5873204" y="2148780"/>
            <a:ext cx="299313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dirty="0">
                <a:solidFill>
                  <a:srgbClr val="4DD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EmbeddingService: Gemini embedding-001 (retrieval_query)</a:t>
            </a:r>
            <a:endParaRPr lang="en-US" sz="550" dirty="0"/>
          </a:p>
        </p:txBody>
      </p:sp>
      <p:pic>
        <p:nvPicPr>
          <p:cNvPr id="128" name="Image 8" descr="/home/iamooo/repos/unified/workspace/arrow-down-sm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89602" y="2301180"/>
            <a:ext cx="101501" cy="126950"/>
          </a:xfrm>
          <a:prstGeom prst="rect">
            <a:avLst/>
          </a:prstGeom>
        </p:spPr>
      </p:pic>
      <p:sp>
        <p:nvSpPr>
          <p:cNvPr id="129" name="Text 118"/>
          <p:cNvSpPr/>
          <p:nvPr/>
        </p:nvSpPr>
        <p:spPr>
          <a:xfrm>
            <a:off x="5800279" y="2478881"/>
            <a:ext cx="3080296" cy="180975"/>
          </a:xfrm>
          <a:prstGeom prst="roundRect">
            <a:avLst>
              <a:gd name="adj" fmla="val 28070"/>
            </a:avLst>
          </a:prstGeom>
          <a:solidFill>
            <a:srgbClr val="4DD0E1">
              <a:alpha val="10000"/>
            </a:srgbClr>
          </a:solidFill>
          <a:ln w="9525">
            <a:solidFill>
              <a:srgbClr val="00838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0" name="Text 119"/>
          <p:cNvSpPr/>
          <p:nvPr/>
        </p:nvSpPr>
        <p:spPr>
          <a:xfrm>
            <a:off x="5873204" y="2526506"/>
            <a:ext cx="299313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dirty="0">
                <a:solidFill>
                  <a:srgbClr val="4DD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RetrievalService: Pinecone top-k (threshold 0.7 / 0.5 / fallback)</a:t>
            </a:r>
            <a:endParaRPr lang="en-US" sz="550" dirty="0"/>
          </a:p>
        </p:txBody>
      </p:sp>
      <p:pic>
        <p:nvPicPr>
          <p:cNvPr id="131" name="Image 9" descr="/home/iamooo/repos/unified/workspace/arrow-down-sm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89602" y="2678906"/>
            <a:ext cx="101501" cy="126950"/>
          </a:xfrm>
          <a:prstGeom prst="rect">
            <a:avLst/>
          </a:prstGeom>
        </p:spPr>
      </p:pic>
      <p:sp>
        <p:nvSpPr>
          <p:cNvPr id="132" name="Text 120"/>
          <p:cNvSpPr/>
          <p:nvPr/>
        </p:nvSpPr>
        <p:spPr>
          <a:xfrm>
            <a:off x="5800279" y="2856607"/>
            <a:ext cx="3080296" cy="180975"/>
          </a:xfrm>
          <a:prstGeom prst="roundRect">
            <a:avLst>
              <a:gd name="adj" fmla="val 28070"/>
            </a:avLst>
          </a:prstGeom>
          <a:solidFill>
            <a:srgbClr val="4DD0E1">
              <a:alpha val="10000"/>
            </a:srgbClr>
          </a:solidFill>
          <a:ln w="9525">
            <a:solidFill>
              <a:srgbClr val="00838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3" name="Text 121"/>
          <p:cNvSpPr/>
          <p:nvPr/>
        </p:nvSpPr>
        <p:spPr>
          <a:xfrm>
            <a:off x="5873204" y="2904232"/>
            <a:ext cx="299313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dirty="0">
                <a:solidFill>
                  <a:srgbClr val="4DD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Chain: Context assembly from chunks + items</a:t>
            </a:r>
            <a:endParaRPr lang="en-US" sz="550" dirty="0"/>
          </a:p>
        </p:txBody>
      </p:sp>
      <p:pic>
        <p:nvPicPr>
          <p:cNvPr id="134" name="Image 10" descr="/home/iamooo/repos/unified/workspace/arrow-down-sm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89602" y="3056632"/>
            <a:ext cx="101501" cy="126950"/>
          </a:xfrm>
          <a:prstGeom prst="rect">
            <a:avLst/>
          </a:prstGeom>
        </p:spPr>
      </p:pic>
      <p:sp>
        <p:nvSpPr>
          <p:cNvPr id="135" name="Text 122"/>
          <p:cNvSpPr/>
          <p:nvPr/>
        </p:nvSpPr>
        <p:spPr>
          <a:xfrm>
            <a:off x="5800279" y="3234333"/>
            <a:ext cx="3080296" cy="180975"/>
          </a:xfrm>
          <a:prstGeom prst="roundRect">
            <a:avLst>
              <a:gd name="adj" fmla="val 28070"/>
            </a:avLst>
          </a:prstGeom>
          <a:solidFill>
            <a:srgbClr val="4DD0E1">
              <a:alpha val="10000"/>
            </a:srgbClr>
          </a:solidFill>
          <a:ln w="9525">
            <a:solidFill>
              <a:srgbClr val="00838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6" name="Text 123"/>
          <p:cNvSpPr/>
          <p:nvPr/>
        </p:nvSpPr>
        <p:spPr>
          <a:xfrm>
            <a:off x="5873204" y="3281958"/>
            <a:ext cx="299313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dirty="0">
                <a:solidFill>
                  <a:srgbClr val="4DD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EvaluationEngine: Gemini 2.5 Flash (temp 0.1-0.3)</a:t>
            </a:r>
            <a:endParaRPr lang="en-US" sz="550" dirty="0"/>
          </a:p>
        </p:txBody>
      </p:sp>
      <p:pic>
        <p:nvPicPr>
          <p:cNvPr id="137" name="Image 11" descr="/home/iamooo/repos/unified/workspace/arrow-down-sm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89602" y="3434358"/>
            <a:ext cx="101501" cy="126950"/>
          </a:xfrm>
          <a:prstGeom prst="rect">
            <a:avLst/>
          </a:prstGeom>
        </p:spPr>
      </p:pic>
      <p:sp>
        <p:nvSpPr>
          <p:cNvPr id="138" name="Text 124"/>
          <p:cNvSpPr/>
          <p:nvPr/>
        </p:nvSpPr>
        <p:spPr>
          <a:xfrm>
            <a:off x="5800279" y="3599408"/>
            <a:ext cx="3080296" cy="418505"/>
          </a:xfrm>
          <a:prstGeom prst="roundRect">
            <a:avLst>
              <a:gd name="adj" fmla="val 15173"/>
            </a:avLst>
          </a:prstGeom>
          <a:solidFill>
            <a:srgbClr val="66BB6A">
              <a:alpha val="15000"/>
            </a:srgbClr>
          </a:solidFill>
          <a:ln w="9525">
            <a:solidFill>
              <a:srgbClr val="43A04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9" name="Text 125"/>
          <p:cNvSpPr/>
          <p:nvPr/>
        </p:nvSpPr>
        <p:spPr>
          <a:xfrm>
            <a:off x="5873204" y="3665934"/>
            <a:ext cx="299313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"/>
              </a:spcBef>
              <a:spcAft>
                <a:spcPts val="50"/>
              </a:spcAft>
              <a:buNone/>
            </a:pPr>
            <a:r>
              <a:rPr lang="en-US" sz="5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Result</a:t>
            </a:r>
            <a:endParaRPr lang="en-US" sz="500" dirty="0"/>
          </a:p>
        </p:txBody>
      </p:sp>
      <p:sp>
        <p:nvSpPr>
          <p:cNvPr id="140" name="Text 126"/>
          <p:cNvSpPr/>
          <p:nvPr/>
        </p:nvSpPr>
        <p:spPr>
          <a:xfrm>
            <a:off x="5873204" y="3738860"/>
            <a:ext cx="299313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"/>
              </a:spcBef>
              <a:spcAft>
                <a:spcPts val="50"/>
              </a:spcAft>
              <a:buNone/>
            </a:pPr>
            <a:r>
              <a:rPr lang="en-US" sz="500" dirty="0">
                <a:solidFill>
                  <a:srgbClr val="81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| score (0-100) | issues[]</a:t>
            </a:r>
            <a:endParaRPr lang="en-US" sz="500" dirty="0"/>
          </a:p>
        </p:txBody>
      </p:sp>
      <p:sp>
        <p:nvSpPr>
          <p:cNvPr id="141" name="Text 127"/>
          <p:cNvSpPr/>
          <p:nvPr/>
        </p:nvSpPr>
        <p:spPr>
          <a:xfrm>
            <a:off x="5873204" y="3811786"/>
            <a:ext cx="299313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"/>
              </a:spcBef>
              <a:spcAft>
                <a:spcPts val="50"/>
              </a:spcAft>
              <a:buNone/>
            </a:pPr>
            <a:r>
              <a:rPr lang="en-US" sz="500" dirty="0">
                <a:solidFill>
                  <a:srgbClr val="81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improvements[] | item_scores[] (per-item)</a:t>
            </a:r>
            <a:endParaRPr lang="en-US" sz="500" dirty="0"/>
          </a:p>
        </p:txBody>
      </p:sp>
      <p:sp>
        <p:nvSpPr>
          <p:cNvPr id="142" name="Text 128"/>
          <p:cNvSpPr/>
          <p:nvPr/>
        </p:nvSpPr>
        <p:spPr>
          <a:xfrm>
            <a:off x="5873204" y="3884712"/>
            <a:ext cx="299313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"/>
              </a:spcBef>
              <a:spcAft>
                <a:spcPts val="50"/>
              </a:spcAft>
              <a:buNone/>
            </a:pPr>
            <a:r>
              <a:rPr lang="en-US" sz="500" dirty="0">
                <a:solidFill>
                  <a:srgbClr val="81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max_possible_score | category</a:t>
            </a:r>
            <a:endParaRPr lang="en-US" sz="500" dirty="0"/>
          </a:p>
        </p:txBody>
      </p:sp>
      <p:sp>
        <p:nvSpPr>
          <p:cNvPr id="143" name="Text 129"/>
          <p:cNvSpPr/>
          <p:nvPr/>
        </p:nvSpPr>
        <p:spPr>
          <a:xfrm>
            <a:off x="5800279" y="4056013"/>
            <a:ext cx="3080296" cy="129778"/>
          </a:xfrm>
          <a:prstGeom prst="rect">
            <a:avLst/>
          </a:prstGeom>
          <a:solidFill>
            <a:srgbClr val="1E88E5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4" name="Shape 130"/>
          <p:cNvSpPr/>
          <p:nvPr/>
        </p:nvSpPr>
        <p:spPr>
          <a:xfrm>
            <a:off x="5809804" y="4056013"/>
            <a:ext cx="0" cy="129778"/>
          </a:xfrm>
          <a:prstGeom prst="line">
            <a:avLst/>
          </a:prstGeom>
          <a:noFill/>
          <a:ln w="19050">
            <a:solidFill>
              <a:srgbClr val="1E88E5"/>
            </a:solidFill>
            <a:prstDash val="solid"/>
          </a:ln>
        </p:spPr>
      </p:sp>
      <p:sp>
        <p:nvSpPr>
          <p:cNvPr id="145" name="Text 131"/>
          <p:cNvSpPr/>
          <p:nvPr/>
        </p:nvSpPr>
        <p:spPr>
          <a:xfrm>
            <a:off x="5870079" y="4087564"/>
            <a:ext cx="301894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"/>
              </a:spcBef>
              <a:spcAft>
                <a:spcPts val="50"/>
              </a:spcAft>
              <a:buNone/>
            </a:pPr>
            <a:r>
              <a:rPr lang="en-US" sz="500" dirty="0">
                <a:solidFill>
                  <a:srgbClr val="4DD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Modes:</a:t>
            </a:r>
            <a:pPr algn="l" indent="0" marL="0">
              <a:spcBef>
                <a:spcPts val="50"/>
              </a:spcBef>
              <a:spcAft>
                <a:spcPts val="50"/>
              </a:spcAft>
              <a:buNone/>
            </a:pPr>
            <a:r>
              <a:rPr lang="en-US" sz="5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Simple Eval (single score) | Item-Level Eval (per-item, batch 8)</a:t>
            </a:r>
            <a:endParaRPr lang="en-US" sz="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System Architecture</dc:title>
  <dc:subject>PptxGenJS Presentation</dc:subject>
  <dc:creator>Claude</dc:creator>
  <cp:lastModifiedBy>Claude</cp:lastModifiedBy>
  <cp:revision>1</cp:revision>
  <dcterms:created xsi:type="dcterms:W3CDTF">2026-03-09T00:49:46Z</dcterms:created>
  <dcterms:modified xsi:type="dcterms:W3CDTF">2026-03-09T00:49:46Z</dcterms:modified>
</cp:coreProperties>
</file>