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03150"/>
            <a:ext cx="8585299" cy="739676"/>
          </a:xfrm>
          <a:prstGeom prst="roundRect">
            <a:avLst>
              <a:gd name="adj" fmla="val 13736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7925" y="203150"/>
            <a:ext cx="0" cy="739676"/>
          </a:xfrm>
          <a:prstGeom prst="line">
            <a:avLst/>
          </a:prstGeom>
          <a:noFill/>
          <a:ln w="571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651" y="317450"/>
            <a:ext cx="82842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Workspace - 시스템 아키텍처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9651" y="666601"/>
            <a:ext cx="82842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기반 5개 서비스 오케스트레이션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65164" y="1044327"/>
            <a:ext cx="844153" cy="504676"/>
          </a:xfrm>
          <a:prstGeom prst="roundRect">
            <a:avLst>
              <a:gd name="adj" fmla="val 17615"/>
            </a:avLst>
          </a:prstGeom>
          <a:solidFill>
            <a:srgbClr val="64748B">
              <a:alpha val="25000"/>
            </a:srgbClr>
          </a:solidFill>
          <a:ln w="19050">
            <a:solidFill>
              <a:srgbClr val="6474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05643" y="1152227"/>
            <a:ext cx="5631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05643" y="1307753"/>
            <a:ext cx="563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접속</a:t>
            </a:r>
            <a:endParaRPr lang="en-US" sz="800" dirty="0"/>
          </a:p>
        </p:txBody>
      </p:sp>
      <p:pic>
        <p:nvPicPr>
          <p:cNvPr id="9" name="Image 0" descr="/home/iamooo/repos/unified/workspace/slides/arrow-right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818" y="1233190"/>
            <a:ext cx="253901" cy="1269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66220" y="1053852"/>
            <a:ext cx="1293614" cy="485626"/>
          </a:xfrm>
          <a:prstGeom prst="roundRect">
            <a:avLst>
              <a:gd name="adj" fmla="val 18306"/>
            </a:avLst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702204" y="1161752"/>
            <a:ext cx="10216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Frontend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02204" y="1317278"/>
            <a:ext cx="10216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:3000</a:t>
            </a:r>
            <a:endParaRPr lang="en-US" sz="800" dirty="0"/>
          </a:p>
        </p:txBody>
      </p:sp>
      <p:pic>
        <p:nvPicPr>
          <p:cNvPr id="13" name="Image 1" descr="/home/iamooo/repos/unified/workspace/slides/arrow-right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334" y="1233190"/>
            <a:ext cx="253901" cy="126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16736" y="1053852"/>
            <a:ext cx="1561951" cy="485626"/>
          </a:xfrm>
          <a:prstGeom prst="roundRect">
            <a:avLst>
              <a:gd name="adj" fmla="val 18306"/>
            </a:avLst>
          </a:prstGeom>
          <a:solidFill>
            <a:srgbClr val="8B5CF6">
              <a:alpha val="15000"/>
            </a:srgbClr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450037" y="1161752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50037" y="1317278"/>
            <a:ext cx="1295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</a:t>
            </a:r>
            <a:endParaRPr lang="en-US" sz="800" dirty="0"/>
          </a:p>
        </p:txBody>
      </p:sp>
      <p:pic>
        <p:nvPicPr>
          <p:cNvPr id="17" name="Image 2" descr="/home/iamooo/repos/unified/workspace/slides/arrow-down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450" y="1612404"/>
            <a:ext cx="126950" cy="1777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74318" y="1853505"/>
            <a:ext cx="1126331" cy="504676"/>
          </a:xfrm>
          <a:prstGeom prst="roundRect">
            <a:avLst>
              <a:gd name="adj" fmla="val 17615"/>
            </a:avLst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011975" y="1961406"/>
            <a:ext cx="851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011975" y="2116931"/>
            <a:ext cx="8510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:5432 데이터 저장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127599" y="1853505"/>
            <a:ext cx="916781" cy="504676"/>
          </a:xfrm>
          <a:prstGeom prst="roundRect">
            <a:avLst>
              <a:gd name="adj" fmla="val 17615"/>
            </a:avLst>
          </a:prstGeom>
          <a:solidFill>
            <a:srgbClr val="EF4444">
              <a:alpha val="15000"/>
            </a:srgbClr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267352" y="1961406"/>
            <a:ext cx="637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267352" y="2116931"/>
            <a:ext cx="6372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:6379 캐시/큐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171331" y="1853505"/>
            <a:ext cx="1098203" cy="504676"/>
          </a:xfrm>
          <a:prstGeom prst="roundRect">
            <a:avLst>
              <a:gd name="adj" fmla="val 17615"/>
            </a:avLst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309269" y="1961406"/>
            <a:ext cx="8223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Engine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309269" y="2116931"/>
            <a:ext cx="8223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:5678 워크플로우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702272" y="2421582"/>
            <a:ext cx="1660475" cy="190500"/>
          </a:xfrm>
          <a:prstGeom prst="roundRect">
            <a:avLst>
              <a:gd name="adj" fmla="val 66667"/>
            </a:avLst>
          </a:prstGeom>
          <a:noFill/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2838748" y="2469207"/>
            <a:ext cx="1415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frontend-net</a:t>
            </a:r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Frontend ↔ Backend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4489698" y="2421582"/>
            <a:ext cx="1952030" cy="190500"/>
          </a:xfrm>
          <a:prstGeom prst="roundRect">
            <a:avLst>
              <a:gd name="adj" fmla="val 66667"/>
            </a:avLst>
          </a:prstGeom>
          <a:noFill/>
          <a:ln w="9525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626173" y="2469207"/>
            <a:ext cx="17126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backend-net</a:t>
            </a:r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Backend ↔ DB / Redis / n8n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279350" y="2700933"/>
            <a:ext cx="2079575" cy="683865"/>
          </a:xfrm>
          <a:prstGeom prst="roundRect">
            <a:avLst>
              <a:gd name="adj" fmla="val 11143"/>
            </a:avLst>
          </a:prstGeom>
          <a:solidFill>
            <a:srgbClr val="1E293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7"/>
          <p:cNvSpPr/>
          <p:nvPr/>
        </p:nvSpPr>
        <p:spPr>
          <a:xfrm>
            <a:off x="279350" y="2715220"/>
            <a:ext cx="2079575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93650" y="2805708"/>
            <a:ext cx="18879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393650" y="2935784"/>
            <a:ext cx="1887995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Router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Query, TailwindCSS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2447776" y="2700933"/>
            <a:ext cx="2079724" cy="683865"/>
          </a:xfrm>
          <a:prstGeom prst="roundRect">
            <a:avLst>
              <a:gd name="adj" fmla="val 11143"/>
            </a:avLst>
          </a:prstGeom>
          <a:solidFill>
            <a:srgbClr val="1E293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1"/>
          <p:cNvSpPr/>
          <p:nvPr/>
        </p:nvSpPr>
        <p:spPr>
          <a:xfrm>
            <a:off x="2447776" y="2715220"/>
            <a:ext cx="2079724" cy="0"/>
          </a:xfrm>
          <a:prstGeom prst="line">
            <a:avLst/>
          </a:prstGeom>
          <a:noFill/>
          <a:ln w="28575">
            <a:solidFill>
              <a:srgbClr val="8B5CF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562076" y="2805708"/>
            <a:ext cx="18881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2562076" y="2935784"/>
            <a:ext cx="1888147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pPr algn="l" indent="0" marL="0">
              <a:lnSpc>
                <a:spcPts val="980"/>
              </a:lnSpc>
              <a:buNone/>
            </a:pP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2.0 async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v2, Alembic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4616351" y="2700933"/>
            <a:ext cx="2079724" cy="683865"/>
          </a:xfrm>
          <a:prstGeom prst="roundRect">
            <a:avLst>
              <a:gd name="adj" fmla="val 11143"/>
            </a:avLst>
          </a:prstGeom>
          <a:solidFill>
            <a:srgbClr val="1E293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5"/>
          <p:cNvSpPr/>
          <p:nvPr/>
        </p:nvSpPr>
        <p:spPr>
          <a:xfrm>
            <a:off x="4616351" y="2715220"/>
            <a:ext cx="2079724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730651" y="2805708"/>
            <a:ext cx="18881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4730651" y="2935784"/>
            <a:ext cx="1888147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pPr algn="l" indent="0" marL="0">
              <a:lnSpc>
                <a:spcPts val="980"/>
              </a:lnSpc>
              <a:buNone/>
            </a:pP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16, Redis 7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1.76</a:t>
            </a:r>
            <a:endParaRPr lang="en-US" sz="700" dirty="0"/>
          </a:p>
        </p:txBody>
      </p:sp>
      <p:sp>
        <p:nvSpPr>
          <p:cNvPr id="43" name="Text 38"/>
          <p:cNvSpPr/>
          <p:nvPr/>
        </p:nvSpPr>
        <p:spPr>
          <a:xfrm>
            <a:off x="6784925" y="2700933"/>
            <a:ext cx="2079724" cy="683865"/>
          </a:xfrm>
          <a:prstGeom prst="roundRect">
            <a:avLst>
              <a:gd name="adj" fmla="val 11143"/>
            </a:avLst>
          </a:prstGeom>
          <a:solidFill>
            <a:srgbClr val="1E293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39"/>
          <p:cNvSpPr/>
          <p:nvPr/>
        </p:nvSpPr>
        <p:spPr>
          <a:xfrm>
            <a:off x="6784925" y="2715220"/>
            <a:ext cx="2079724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899225" y="2805708"/>
            <a:ext cx="18881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6899225" y="2935784"/>
            <a:ext cx="1888147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OpenAI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벡터DB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279350" y="4956274"/>
            <a:ext cx="8842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Workspace v1.0.0</a:t>
            </a:r>
            <a:endParaRPr lang="en-US" sz="600" dirty="0"/>
          </a:p>
        </p:txBody>
      </p:sp>
      <p:sp>
        <p:nvSpPr>
          <p:cNvPr id="48" name="Text 43"/>
          <p:cNvSpPr/>
          <p:nvPr/>
        </p:nvSpPr>
        <p:spPr>
          <a:xfrm>
            <a:off x="7797403" y="4956274"/>
            <a:ext cx="10885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Orchestration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177701"/>
            <a:ext cx="8534400" cy="695027"/>
          </a:xfrm>
          <a:prstGeom prst="roundRect">
            <a:avLst>
              <a:gd name="adj" fmla="val 14618"/>
            </a:avLst>
          </a:prstGeom>
          <a:solidFill>
            <a:srgbClr val="1E3A5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33375" y="177701"/>
            <a:ext cx="0" cy="695027"/>
          </a:xfrm>
          <a:prstGeom prst="line">
            <a:avLst/>
          </a:prstGeom>
          <a:noFill/>
          <a:ln w="5715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0550" y="279202"/>
            <a:ext cx="81804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모듈 구성 - Auto-Discovery Registry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0550" y="609302"/>
            <a:ext cx="81804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시 자동 스캔 → 라우터 마운트 → API 엔드포인트 자동 등록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46746" y="1002804"/>
            <a:ext cx="997000" cy="431750"/>
          </a:xfrm>
          <a:prstGeom prst="roundRect">
            <a:avLst>
              <a:gd name="adj" fmla="val 17649"/>
            </a:avLst>
          </a:prstGeom>
          <a:solidFill>
            <a:srgbClr val="3B82F6">
              <a:alpha val="15000"/>
            </a:srgbClr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11655" y="1098054"/>
            <a:ext cx="667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Startup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11655" y="1244054"/>
            <a:ext cx="6671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lifespan</a:t>
            </a:r>
            <a:endParaRPr lang="en-US" sz="700" dirty="0"/>
          </a:p>
        </p:txBody>
      </p:sp>
      <p:pic>
        <p:nvPicPr>
          <p:cNvPr id="9" name="Image 0" descr="/home/iamooo/repos/unified/workspace/slides/arrow-right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945" y="1161455"/>
            <a:ext cx="228600" cy="1143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24745" y="988516"/>
            <a:ext cx="1986111" cy="460325"/>
          </a:xfrm>
          <a:prstGeom prst="roundRect">
            <a:avLst>
              <a:gd name="adj" fmla="val 16554"/>
            </a:avLst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879763" y="1083766"/>
            <a:ext cx="16760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ProjectRegistry.auto_discover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79763" y="1229767"/>
            <a:ext cx="16760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projects/ 디렉토리 스캔</a:t>
            </a:r>
            <a:endParaRPr lang="en-US" sz="700" dirty="0"/>
          </a:p>
        </p:txBody>
      </p:sp>
      <p:pic>
        <p:nvPicPr>
          <p:cNvPr id="13" name="Image 1" descr="/home/iamooo/repos/unified/workspace/slides/arrow-right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057" y="1161455"/>
            <a:ext cx="228600" cy="114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91857" y="974229"/>
            <a:ext cx="1238548" cy="488900"/>
          </a:xfrm>
          <a:prstGeom prst="roundRect">
            <a:avLst>
              <a:gd name="adj" fmla="val 15586"/>
            </a:avLst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254350" y="1069479"/>
            <a:ext cx="9135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manifest.py 로드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254350" y="1244054"/>
            <a:ext cx="9135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ProjectManifest 파싱</a:t>
            </a:r>
            <a:endParaRPr lang="en-US" sz="700" dirty="0"/>
          </a:p>
        </p:txBody>
      </p:sp>
      <p:pic>
        <p:nvPicPr>
          <p:cNvPr id="17" name="Image 2" descr="/home/iamooo/repos/unified/workspace/slides/arrow-right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604" y="1161455"/>
            <a:ext cx="228600" cy="114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11404" y="1002804"/>
            <a:ext cx="1085701" cy="431750"/>
          </a:xfrm>
          <a:prstGeom prst="roundRect">
            <a:avLst>
              <a:gd name="adj" fmla="val 17649"/>
            </a:avLst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875426" y="1098054"/>
            <a:ext cx="757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Mount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875426" y="1244054"/>
            <a:ext cx="7576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/api/projects/{slug}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304800" y="1539329"/>
            <a:ext cx="4203650" cy="415677"/>
          </a:xfrm>
          <a:prstGeom prst="roundRect">
            <a:avLst>
              <a:gd name="adj" fmla="val 18332"/>
            </a:avLst>
          </a:prstGeom>
          <a:solidFill>
            <a:srgbClr val="3B82F6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304800" y="1945481"/>
            <a:ext cx="420365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92253" y="1602730"/>
            <a:ext cx="40287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타입 (DB 기반 CRUD)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92253" y="1777305"/>
            <a:ext cx="40287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ORM + PostgreSQL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04800" y="1955006"/>
            <a:ext cx="4203650" cy="2245816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4503688" y="1955006"/>
            <a:ext cx="0" cy="2245816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04800" y="4196060"/>
            <a:ext cx="420365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09562" y="1955006"/>
            <a:ext cx="0" cy="2245816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90525" y="2005757"/>
            <a:ext cx="4032200" cy="361801"/>
          </a:xfrm>
          <a:prstGeom prst="roundRect">
            <a:avLst>
              <a:gd name="adj" fmla="val 17551"/>
            </a:avLst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5"/>
          <p:cNvSpPr/>
          <p:nvPr/>
        </p:nvSpPr>
        <p:spPr>
          <a:xfrm>
            <a:off x="409575" y="2005757"/>
            <a:ext cx="0" cy="36180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30126" y="2056507"/>
            <a:ext cx="3059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개방데이터 설명/키워드 자동생성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530126" y="2202507"/>
            <a:ext cx="30594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기반 키워드 8개 + 설명문 자동 생성</a:t>
            </a:r>
            <a:endParaRPr lang="en-US" sz="650" dirty="0"/>
          </a:p>
        </p:txBody>
      </p:sp>
      <p:sp>
        <p:nvSpPr>
          <p:cNvPr id="33" name="Text 28"/>
          <p:cNvSpPr/>
          <p:nvPr/>
        </p:nvSpPr>
        <p:spPr>
          <a:xfrm>
            <a:off x="3605808" y="2131070"/>
            <a:ext cx="715417" cy="111026"/>
          </a:xfrm>
          <a:prstGeom prst="roundRect">
            <a:avLst>
              <a:gd name="adj" fmla="val 34316"/>
            </a:avLst>
          </a:prstGeom>
          <a:solidFill>
            <a:srgbClr val="4755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669209" y="2143720"/>
            <a:ext cx="6003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dataset-summary</a:t>
            </a:r>
            <a:endParaRPr lang="en-US" sz="600" dirty="0"/>
          </a:p>
        </p:txBody>
      </p:sp>
      <p:sp>
        <p:nvSpPr>
          <p:cNvPr id="35" name="Text 30"/>
          <p:cNvSpPr/>
          <p:nvPr/>
        </p:nvSpPr>
        <p:spPr>
          <a:xfrm>
            <a:off x="390525" y="2405658"/>
            <a:ext cx="4032200" cy="361801"/>
          </a:xfrm>
          <a:prstGeom prst="roundRect">
            <a:avLst>
              <a:gd name="adj" fmla="val 17551"/>
            </a:avLst>
          </a:prstGeom>
          <a:solidFill>
            <a:srgbClr val="8B5C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1"/>
          <p:cNvSpPr/>
          <p:nvPr/>
        </p:nvSpPr>
        <p:spPr>
          <a:xfrm>
            <a:off x="409575" y="2405658"/>
            <a:ext cx="0" cy="36180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30126" y="2456408"/>
            <a:ext cx="31672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평가편람 (RAG)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30126" y="2602409"/>
            <a:ext cx="31672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Gemini 기반 공공데이터 자동 평가</a:t>
            </a:r>
            <a:endParaRPr lang="en-US" sz="650" dirty="0"/>
          </a:p>
        </p:txBody>
      </p:sp>
      <p:sp>
        <p:nvSpPr>
          <p:cNvPr id="39" name="Text 34"/>
          <p:cNvSpPr/>
          <p:nvPr/>
        </p:nvSpPr>
        <p:spPr>
          <a:xfrm>
            <a:off x="3711476" y="2530971"/>
            <a:ext cx="609749" cy="111026"/>
          </a:xfrm>
          <a:prstGeom prst="roundRect">
            <a:avLst>
              <a:gd name="adj" fmla="val 34316"/>
            </a:avLst>
          </a:prstGeom>
          <a:solidFill>
            <a:srgbClr val="4755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3774877" y="2543621"/>
            <a:ext cx="4926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evaluation-rag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390525" y="2805559"/>
            <a:ext cx="4032200" cy="361801"/>
          </a:xfrm>
          <a:prstGeom prst="roundRect">
            <a:avLst>
              <a:gd name="adj" fmla="val 17551"/>
            </a:avLst>
          </a:prstGeom>
          <a:solidFill>
            <a:srgbClr val="05966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7"/>
          <p:cNvSpPr/>
          <p:nvPr/>
        </p:nvSpPr>
        <p:spPr>
          <a:xfrm>
            <a:off x="409575" y="2805559"/>
            <a:ext cx="0" cy="36180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30126" y="2856309"/>
            <a:ext cx="30508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뉴스 크롤링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530126" y="3002310"/>
            <a:ext cx="30508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기관 뉴스 자동 수집/분석</a:t>
            </a:r>
            <a:endParaRPr lang="en-US" sz="650" dirty="0"/>
          </a:p>
        </p:txBody>
      </p:sp>
      <p:sp>
        <p:nvSpPr>
          <p:cNvPr id="45" name="Text 40"/>
          <p:cNvSpPr/>
          <p:nvPr/>
        </p:nvSpPr>
        <p:spPr>
          <a:xfrm>
            <a:off x="3597325" y="2930872"/>
            <a:ext cx="723900" cy="111026"/>
          </a:xfrm>
          <a:prstGeom prst="roundRect">
            <a:avLst>
              <a:gd name="adj" fmla="val 34316"/>
            </a:avLst>
          </a:prstGeom>
          <a:solidFill>
            <a:srgbClr val="4755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3660725" y="2943523"/>
            <a:ext cx="6090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gov-news-crawler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390525" y="3205460"/>
            <a:ext cx="4032200" cy="361801"/>
          </a:xfrm>
          <a:prstGeom prst="roundRect">
            <a:avLst>
              <a:gd name="adj" fmla="val 17551"/>
            </a:avLst>
          </a:prstGeom>
          <a:solidFill>
            <a:srgbClr val="10B98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3"/>
          <p:cNvSpPr/>
          <p:nvPr/>
        </p:nvSpPr>
        <p:spPr>
          <a:xfrm>
            <a:off x="409575" y="3205460"/>
            <a:ext cx="0" cy="361801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30126" y="3256211"/>
            <a:ext cx="2990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개방 가능 여부 판단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530126" y="3402211"/>
            <a:ext cx="29900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5단계 개방 가능 여부 판단</a:t>
            </a:r>
            <a:endParaRPr lang="en-US" sz="650" dirty="0"/>
          </a:p>
        </p:txBody>
      </p:sp>
      <p:sp>
        <p:nvSpPr>
          <p:cNvPr id="51" name="Text 46"/>
          <p:cNvSpPr/>
          <p:nvPr/>
        </p:nvSpPr>
        <p:spPr>
          <a:xfrm>
            <a:off x="3537793" y="3330773"/>
            <a:ext cx="783431" cy="111026"/>
          </a:xfrm>
          <a:prstGeom prst="roundRect">
            <a:avLst>
              <a:gd name="adj" fmla="val 34316"/>
            </a:avLst>
          </a:prstGeom>
          <a:solidFill>
            <a:srgbClr val="4755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3601194" y="3343424"/>
            <a:ext cx="6697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open-data-analyzer</a:t>
            </a:r>
            <a:endParaRPr lang="en-US" sz="600" dirty="0"/>
          </a:p>
        </p:txBody>
      </p:sp>
      <p:sp>
        <p:nvSpPr>
          <p:cNvPr id="53" name="Text 48"/>
          <p:cNvSpPr/>
          <p:nvPr/>
        </p:nvSpPr>
        <p:spPr>
          <a:xfrm>
            <a:off x="4635401" y="1539329"/>
            <a:ext cx="4203799" cy="444252"/>
          </a:xfrm>
          <a:prstGeom prst="roundRect">
            <a:avLst>
              <a:gd name="adj" fmla="val 17152"/>
            </a:avLst>
          </a:prstGeom>
          <a:solidFill>
            <a:srgbClr val="10B981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49"/>
          <p:cNvSpPr/>
          <p:nvPr/>
        </p:nvSpPr>
        <p:spPr>
          <a:xfrm>
            <a:off x="4635401" y="1974056"/>
            <a:ext cx="4203799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4722852" y="1602730"/>
            <a:ext cx="40288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타입 (워크플로우 기반)</a:t>
            </a:r>
            <a:endParaRPr lang="en-US" sz="950" dirty="0"/>
          </a:p>
        </p:txBody>
      </p:sp>
      <p:sp>
        <p:nvSpPr>
          <p:cNvPr id="56" name="Text 51"/>
          <p:cNvSpPr/>
          <p:nvPr/>
        </p:nvSpPr>
        <p:spPr>
          <a:xfrm>
            <a:off x="4722852" y="1777305"/>
            <a:ext cx="4028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Webhook 트리거 + 폴링</a:t>
            </a:r>
            <a:endParaRPr lang="en-US" sz="700" dirty="0"/>
          </a:p>
        </p:txBody>
      </p:sp>
      <p:sp>
        <p:nvSpPr>
          <p:cNvPr id="57" name="Text 52"/>
          <p:cNvSpPr/>
          <p:nvPr/>
        </p:nvSpPr>
        <p:spPr>
          <a:xfrm>
            <a:off x="4635401" y="1983581"/>
            <a:ext cx="4203799" cy="2217241"/>
          </a:xfrm>
          <a:prstGeom prst="rect">
            <a:avLst/>
          </a:prstGeom>
          <a:solidFill>
            <a:srgbClr val="0F172A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3"/>
          <p:cNvSpPr/>
          <p:nvPr/>
        </p:nvSpPr>
        <p:spPr>
          <a:xfrm>
            <a:off x="8834438" y="1983581"/>
            <a:ext cx="0" cy="2217241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4635401" y="4196060"/>
            <a:ext cx="4203799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4640163" y="1983581"/>
            <a:ext cx="0" cy="2217241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4721126" y="2034332"/>
            <a:ext cx="4032349" cy="361801"/>
          </a:xfrm>
          <a:prstGeom prst="roundRect">
            <a:avLst>
              <a:gd name="adj" fmla="val 17551"/>
            </a:avLst>
          </a:prstGeom>
          <a:solidFill>
            <a:srgbClr val="14B8A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57"/>
          <p:cNvSpPr/>
          <p:nvPr/>
        </p:nvSpPr>
        <p:spPr>
          <a:xfrm>
            <a:off x="4740176" y="2034332"/>
            <a:ext cx="0" cy="361801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860727" y="2085082"/>
            <a:ext cx="30983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생성기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4860727" y="2231082"/>
            <a:ext cx="30983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일간/주간 자동 리포트 생성</a:t>
            </a:r>
            <a:endParaRPr lang="en-US" sz="650" dirty="0"/>
          </a:p>
        </p:txBody>
      </p:sp>
      <p:sp>
        <p:nvSpPr>
          <p:cNvPr id="65" name="Text 60"/>
          <p:cNvSpPr/>
          <p:nvPr/>
        </p:nvSpPr>
        <p:spPr>
          <a:xfrm>
            <a:off x="7974509" y="2159645"/>
            <a:ext cx="677466" cy="111026"/>
          </a:xfrm>
          <a:prstGeom prst="roundRect">
            <a:avLst>
              <a:gd name="adj" fmla="val 34316"/>
            </a:avLst>
          </a:prstGeom>
          <a:solidFill>
            <a:srgbClr val="4755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1"/>
          <p:cNvSpPr/>
          <p:nvPr/>
        </p:nvSpPr>
        <p:spPr>
          <a:xfrm>
            <a:off x="8037909" y="2172295"/>
            <a:ext cx="5616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report-generator</a:t>
            </a:r>
            <a:endParaRPr lang="en-US" sz="600" dirty="0"/>
          </a:p>
        </p:txBody>
      </p:sp>
      <p:sp>
        <p:nvSpPr>
          <p:cNvPr id="67" name="Text 62"/>
          <p:cNvSpPr/>
          <p:nvPr/>
        </p:nvSpPr>
        <p:spPr>
          <a:xfrm>
            <a:off x="4721126" y="2434233"/>
            <a:ext cx="4032349" cy="361801"/>
          </a:xfrm>
          <a:prstGeom prst="roundRect">
            <a:avLst>
              <a:gd name="adj" fmla="val 17551"/>
            </a:avLst>
          </a:prstGeom>
          <a:solidFill>
            <a:srgbClr val="6366F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3"/>
          <p:cNvSpPr/>
          <p:nvPr/>
        </p:nvSpPr>
        <p:spPr>
          <a:xfrm>
            <a:off x="4740176" y="2434233"/>
            <a:ext cx="0" cy="361801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860727" y="2484983"/>
            <a:ext cx="32149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파이프라인</a:t>
            </a:r>
            <a:endParaRPr lang="en-US" sz="800" dirty="0"/>
          </a:p>
        </p:txBody>
      </p:sp>
      <p:sp>
        <p:nvSpPr>
          <p:cNvPr id="70" name="Text 65"/>
          <p:cNvSpPr/>
          <p:nvPr/>
        </p:nvSpPr>
        <p:spPr>
          <a:xfrm>
            <a:off x="4860727" y="2630984"/>
            <a:ext cx="3214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파이프라인, 외부 DB 동기화</a:t>
            </a:r>
            <a:endParaRPr lang="en-US" sz="650" dirty="0"/>
          </a:p>
        </p:txBody>
      </p:sp>
      <p:sp>
        <p:nvSpPr>
          <p:cNvPr id="71" name="Text 66"/>
          <p:cNvSpPr/>
          <p:nvPr/>
        </p:nvSpPr>
        <p:spPr>
          <a:xfrm>
            <a:off x="8088809" y="2559546"/>
            <a:ext cx="563166" cy="111026"/>
          </a:xfrm>
          <a:prstGeom prst="roundRect">
            <a:avLst>
              <a:gd name="adj" fmla="val 34316"/>
            </a:avLst>
          </a:prstGeom>
          <a:solidFill>
            <a:srgbClr val="4755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7"/>
          <p:cNvSpPr/>
          <p:nvPr/>
        </p:nvSpPr>
        <p:spPr>
          <a:xfrm>
            <a:off x="8152209" y="2572196"/>
            <a:ext cx="4450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data-pipeline</a:t>
            </a:r>
            <a:endParaRPr lang="en-US" sz="600" dirty="0"/>
          </a:p>
        </p:txBody>
      </p:sp>
      <p:sp>
        <p:nvSpPr>
          <p:cNvPr id="73" name="Text 68"/>
          <p:cNvSpPr/>
          <p:nvPr/>
        </p:nvSpPr>
        <p:spPr>
          <a:xfrm>
            <a:off x="4721126" y="2834134"/>
            <a:ext cx="4032349" cy="361801"/>
          </a:xfrm>
          <a:prstGeom prst="roundRect">
            <a:avLst>
              <a:gd name="adj" fmla="val 17551"/>
            </a:avLst>
          </a:prstGeom>
          <a:solidFill>
            <a:srgbClr val="8B5C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69"/>
          <p:cNvSpPr/>
          <p:nvPr/>
        </p:nvSpPr>
        <p:spPr>
          <a:xfrm>
            <a:off x="4740176" y="2834134"/>
            <a:ext cx="0" cy="361801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4860727" y="2884884"/>
            <a:ext cx="30781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공유데이터 제공 노력</a:t>
            </a:r>
            <a:endParaRPr lang="en-US" sz="800" dirty="0"/>
          </a:p>
        </p:txBody>
      </p:sp>
      <p:sp>
        <p:nvSpPr>
          <p:cNvPr id="76" name="Text 71"/>
          <p:cNvSpPr/>
          <p:nvPr/>
        </p:nvSpPr>
        <p:spPr>
          <a:xfrm>
            <a:off x="4860727" y="3030885"/>
            <a:ext cx="30781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워크플로우 연동 실행</a:t>
            </a:r>
            <a:endParaRPr lang="en-US" sz="650" dirty="0"/>
          </a:p>
        </p:txBody>
      </p:sp>
      <p:sp>
        <p:nvSpPr>
          <p:cNvPr id="77" name="Text 72"/>
          <p:cNvSpPr/>
          <p:nvPr/>
        </p:nvSpPr>
        <p:spPr>
          <a:xfrm>
            <a:off x="7954714" y="2959447"/>
            <a:ext cx="697260" cy="111026"/>
          </a:xfrm>
          <a:prstGeom prst="roundRect">
            <a:avLst>
              <a:gd name="adj" fmla="val 34316"/>
            </a:avLst>
          </a:prstGeom>
          <a:solidFill>
            <a:srgbClr val="4755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3"/>
          <p:cNvSpPr/>
          <p:nvPr/>
        </p:nvSpPr>
        <p:spPr>
          <a:xfrm>
            <a:off x="8018115" y="2972098"/>
            <a:ext cx="581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effort-public-data</a:t>
            </a:r>
            <a:endParaRPr lang="en-US" sz="600" dirty="0"/>
          </a:p>
        </p:txBody>
      </p:sp>
      <p:sp>
        <p:nvSpPr>
          <p:cNvPr id="79" name="Text 74"/>
          <p:cNvSpPr/>
          <p:nvPr/>
        </p:nvSpPr>
        <p:spPr>
          <a:xfrm>
            <a:off x="4721126" y="3234035"/>
            <a:ext cx="4032349" cy="361801"/>
          </a:xfrm>
          <a:prstGeom prst="roundRect">
            <a:avLst>
              <a:gd name="adj" fmla="val 17551"/>
            </a:avLst>
          </a:prstGeom>
          <a:solidFill>
            <a:srgbClr val="F59E0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Shape 75"/>
          <p:cNvSpPr/>
          <p:nvPr/>
        </p:nvSpPr>
        <p:spPr>
          <a:xfrm>
            <a:off x="4740176" y="3234035"/>
            <a:ext cx="0" cy="36180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4860727" y="3284786"/>
            <a:ext cx="3279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요약</a:t>
            </a:r>
            <a:endParaRPr lang="en-US" sz="800" dirty="0"/>
          </a:p>
        </p:txBody>
      </p:sp>
      <p:sp>
        <p:nvSpPr>
          <p:cNvPr id="82" name="Text 77"/>
          <p:cNvSpPr/>
          <p:nvPr/>
        </p:nvSpPr>
        <p:spPr>
          <a:xfrm>
            <a:off x="4860727" y="3430786"/>
            <a:ext cx="32798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기반 텍스트 자동 요약</a:t>
            </a:r>
            <a:endParaRPr lang="en-US" sz="650" dirty="0"/>
          </a:p>
        </p:txBody>
      </p:sp>
      <p:sp>
        <p:nvSpPr>
          <p:cNvPr id="83" name="Text 78"/>
          <p:cNvSpPr/>
          <p:nvPr/>
        </p:nvSpPr>
        <p:spPr>
          <a:xfrm>
            <a:off x="8152507" y="3359348"/>
            <a:ext cx="499467" cy="111026"/>
          </a:xfrm>
          <a:prstGeom prst="roundRect">
            <a:avLst>
              <a:gd name="adj" fmla="val 34316"/>
            </a:avLst>
          </a:prstGeom>
          <a:solidFill>
            <a:srgbClr val="475569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9"/>
          <p:cNvSpPr/>
          <p:nvPr/>
        </p:nvSpPr>
        <p:spPr>
          <a:xfrm>
            <a:off x="8215908" y="3371999"/>
            <a:ext cx="3801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600" dirty="0"/>
          </a:p>
        </p:txBody>
      </p:sp>
      <p:sp>
        <p:nvSpPr>
          <p:cNvPr id="85" name="Text 80"/>
          <p:cNvSpPr/>
          <p:nvPr/>
        </p:nvSpPr>
        <p:spPr>
          <a:xfrm>
            <a:off x="304800" y="4264223"/>
            <a:ext cx="8534400" cy="682526"/>
          </a:xfrm>
          <a:prstGeom prst="roundRect">
            <a:avLst>
              <a:gd name="adj" fmla="val 11164"/>
            </a:avLst>
          </a:prstGeom>
          <a:solidFill>
            <a:srgbClr val="1E293B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Shape 81"/>
          <p:cNvSpPr/>
          <p:nvPr/>
        </p:nvSpPr>
        <p:spPr>
          <a:xfrm>
            <a:off x="304800" y="4273748"/>
            <a:ext cx="853440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482501" y="4359473"/>
            <a:ext cx="8342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프로젝트 모듈 표준 구조</a:t>
            </a:r>
            <a:endParaRPr lang="en-US" sz="800" dirty="0"/>
          </a:p>
        </p:txBody>
      </p:sp>
      <p:sp>
        <p:nvSpPr>
          <p:cNvPr id="88" name="Text 83"/>
          <p:cNvSpPr/>
          <p:nvPr/>
        </p:nvSpPr>
        <p:spPr>
          <a:xfrm>
            <a:off x="2545556" y="4530923"/>
            <a:ext cx="690563" cy="190500"/>
          </a:xfrm>
          <a:prstGeom prst="roundRect">
            <a:avLst>
              <a:gd name="adj" fmla="val 26667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4"/>
          <p:cNvSpPr/>
          <p:nvPr/>
        </p:nvSpPr>
        <p:spPr>
          <a:xfrm>
            <a:off x="2643932" y="4578548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manifest.py</a:t>
            </a:r>
            <a:endParaRPr lang="en-US" sz="700" dirty="0"/>
          </a:p>
        </p:txBody>
      </p:sp>
      <p:sp>
        <p:nvSpPr>
          <p:cNvPr id="90" name="Text 85"/>
          <p:cNvSpPr/>
          <p:nvPr/>
        </p:nvSpPr>
        <p:spPr>
          <a:xfrm>
            <a:off x="3286869" y="4569023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91" name="Text 86"/>
          <p:cNvSpPr/>
          <p:nvPr/>
        </p:nvSpPr>
        <p:spPr>
          <a:xfrm>
            <a:off x="3439120" y="4530923"/>
            <a:ext cx="577007" cy="190500"/>
          </a:xfrm>
          <a:prstGeom prst="roundRect">
            <a:avLst>
              <a:gd name="adj" fmla="val 26667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7"/>
          <p:cNvSpPr/>
          <p:nvPr/>
        </p:nvSpPr>
        <p:spPr>
          <a:xfrm>
            <a:off x="3537496" y="4578548"/>
            <a:ext cx="3878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router.py</a:t>
            </a:r>
            <a:endParaRPr lang="en-US" sz="700" dirty="0"/>
          </a:p>
        </p:txBody>
      </p:sp>
      <p:sp>
        <p:nvSpPr>
          <p:cNvPr id="93" name="Text 88"/>
          <p:cNvSpPr/>
          <p:nvPr/>
        </p:nvSpPr>
        <p:spPr>
          <a:xfrm>
            <a:off x="4066877" y="4569023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94" name="Text 89"/>
          <p:cNvSpPr/>
          <p:nvPr/>
        </p:nvSpPr>
        <p:spPr>
          <a:xfrm>
            <a:off x="4219129" y="4530923"/>
            <a:ext cx="631478" cy="190500"/>
          </a:xfrm>
          <a:prstGeom prst="roundRect">
            <a:avLst>
              <a:gd name="adj" fmla="val 26667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0"/>
          <p:cNvSpPr/>
          <p:nvPr/>
        </p:nvSpPr>
        <p:spPr>
          <a:xfrm>
            <a:off x="4317504" y="4578548"/>
            <a:ext cx="4434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service.py</a:t>
            </a:r>
            <a:endParaRPr lang="en-US" sz="700" dirty="0"/>
          </a:p>
        </p:txBody>
      </p:sp>
      <p:sp>
        <p:nvSpPr>
          <p:cNvPr id="96" name="Text 91"/>
          <p:cNvSpPr/>
          <p:nvPr/>
        </p:nvSpPr>
        <p:spPr>
          <a:xfrm>
            <a:off x="4901357" y="4569023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97" name="Text 92"/>
          <p:cNvSpPr/>
          <p:nvPr/>
        </p:nvSpPr>
        <p:spPr>
          <a:xfrm>
            <a:off x="5053608" y="4530923"/>
            <a:ext cx="705594" cy="190500"/>
          </a:xfrm>
          <a:prstGeom prst="roundRect">
            <a:avLst>
              <a:gd name="adj" fmla="val 26667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3"/>
          <p:cNvSpPr/>
          <p:nvPr/>
        </p:nvSpPr>
        <p:spPr>
          <a:xfrm>
            <a:off x="5151983" y="4578548"/>
            <a:ext cx="5190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schemas.py</a:t>
            </a:r>
            <a:endParaRPr lang="en-US" sz="700" dirty="0"/>
          </a:p>
        </p:txBody>
      </p:sp>
      <p:sp>
        <p:nvSpPr>
          <p:cNvPr id="99" name="Text 94"/>
          <p:cNvSpPr/>
          <p:nvPr/>
        </p:nvSpPr>
        <p:spPr>
          <a:xfrm>
            <a:off x="5809952" y="4569023"/>
            <a:ext cx="103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00" name="Text 95"/>
          <p:cNvSpPr/>
          <p:nvPr/>
        </p:nvSpPr>
        <p:spPr>
          <a:xfrm>
            <a:off x="5962204" y="4530923"/>
            <a:ext cx="636240" cy="190500"/>
          </a:xfrm>
          <a:prstGeom prst="roundRect">
            <a:avLst>
              <a:gd name="adj" fmla="val 26667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6"/>
          <p:cNvSpPr/>
          <p:nvPr/>
        </p:nvSpPr>
        <p:spPr>
          <a:xfrm>
            <a:off x="6060579" y="4578548"/>
            <a:ext cx="4482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models.py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711607" y="4746724"/>
            <a:ext cx="77207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자동 마운트: </a:t>
            </a:r>
            <a:pPr algn="ctr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/api/projects/{slug}/*</a:t>
            </a:r>
            <a:endParaRPr lang="en-US" sz="700" dirty="0"/>
          </a:p>
        </p:txBody>
      </p:sp>
      <p:sp>
        <p:nvSpPr>
          <p:cNvPr id="103" name="Text 98"/>
          <p:cNvSpPr/>
          <p:nvPr/>
        </p:nvSpPr>
        <p:spPr>
          <a:xfrm>
            <a:off x="304800" y="4946749"/>
            <a:ext cx="9568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Workspace v1.0.0</a:t>
            </a:r>
            <a:endParaRPr lang="en-US" sz="650" dirty="0"/>
          </a:p>
        </p:txBody>
      </p:sp>
      <p:sp>
        <p:nvSpPr>
          <p:cNvPr id="104" name="Text 99"/>
          <p:cNvSpPr/>
          <p:nvPr/>
        </p:nvSpPr>
        <p:spPr>
          <a:xfrm>
            <a:off x="7666137" y="4946749"/>
            <a:ext cx="11965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Auto-Discovery Registry Pattern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Workspace - 시스템 아키텍처 &amp; 모듈 구성</dc:title>
  <dc:subject>PptxGenJS Presentation</dc:subject>
  <dc:creator>Unified Workspace</dc:creator>
  <cp:lastModifiedBy>Unified Workspace</cp:lastModifiedBy>
  <cp:revision>1</cp:revision>
  <dcterms:created xsi:type="dcterms:W3CDTF">2026-03-09T00:41:13Z</dcterms:created>
  <dcterms:modified xsi:type="dcterms:W3CDTF">2026-03-09T00:41:13Z</dcterms:modified>
</cp:coreProperties>
</file>